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316" r:id="rId2"/>
    <p:sldId id="321" r:id="rId3"/>
    <p:sldId id="457" r:id="rId4"/>
    <p:sldId id="353" r:id="rId5"/>
    <p:sldId id="417" r:id="rId6"/>
    <p:sldId id="318" r:id="rId7"/>
    <p:sldId id="323" r:id="rId8"/>
    <p:sldId id="326" r:id="rId9"/>
    <p:sldId id="324" r:id="rId10"/>
    <p:sldId id="460" r:id="rId11"/>
    <p:sldId id="335" r:id="rId12"/>
    <p:sldId id="333" r:id="rId13"/>
    <p:sldId id="329" r:id="rId14"/>
    <p:sldId id="411" r:id="rId15"/>
    <p:sldId id="461" r:id="rId16"/>
    <p:sldId id="337" r:id="rId17"/>
    <p:sldId id="336" r:id="rId18"/>
    <p:sldId id="412" r:id="rId19"/>
    <p:sldId id="340" r:id="rId20"/>
    <p:sldId id="338" r:id="rId21"/>
    <p:sldId id="339" r:id="rId22"/>
    <p:sldId id="420" r:id="rId23"/>
    <p:sldId id="421" r:id="rId24"/>
    <p:sldId id="374" r:id="rId25"/>
    <p:sldId id="341" r:id="rId26"/>
    <p:sldId id="422" r:id="rId27"/>
    <p:sldId id="423" r:id="rId28"/>
    <p:sldId id="343" r:id="rId29"/>
    <p:sldId id="331" r:id="rId30"/>
    <p:sldId id="418" r:id="rId31"/>
    <p:sldId id="332" r:id="rId32"/>
    <p:sldId id="426" r:id="rId33"/>
    <p:sldId id="369" r:id="rId34"/>
    <p:sldId id="350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436" r:id="rId45"/>
    <p:sldId id="437" r:id="rId46"/>
    <p:sldId id="450" r:id="rId47"/>
    <p:sldId id="439" r:id="rId48"/>
    <p:sldId id="459" r:id="rId49"/>
    <p:sldId id="442" r:id="rId50"/>
    <p:sldId id="443" r:id="rId51"/>
    <p:sldId id="444" r:id="rId52"/>
    <p:sldId id="445" r:id="rId53"/>
    <p:sldId id="440" r:id="rId54"/>
    <p:sldId id="441" r:id="rId55"/>
    <p:sldId id="446" r:id="rId56"/>
    <p:sldId id="447" r:id="rId57"/>
    <p:sldId id="449" r:id="rId58"/>
    <p:sldId id="455" r:id="rId59"/>
    <p:sldId id="389" r:id="rId60"/>
    <p:sldId id="355" r:id="rId61"/>
    <p:sldId id="392" r:id="rId62"/>
    <p:sldId id="393" r:id="rId63"/>
    <p:sldId id="394" r:id="rId64"/>
    <p:sldId id="451" r:id="rId65"/>
    <p:sldId id="467" r:id="rId66"/>
    <p:sldId id="452" r:id="rId67"/>
    <p:sldId id="462" r:id="rId68"/>
    <p:sldId id="463" r:id="rId69"/>
    <p:sldId id="464" r:id="rId70"/>
    <p:sldId id="465" r:id="rId71"/>
    <p:sldId id="398" r:id="rId72"/>
    <p:sldId id="401" r:id="rId73"/>
    <p:sldId id="456" r:id="rId74"/>
    <p:sldId id="466" r:id="rId75"/>
    <p:sldId id="403" r:id="rId76"/>
    <p:sldId id="354" r:id="rId77"/>
    <p:sldId id="458" r:id="rId78"/>
    <p:sldId id="408" r:id="rId7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" id="{E79BC29E-83E4-3E46-8058-CEAA82E6DA30}">
          <p14:sldIdLst>
            <p14:sldId id="316"/>
            <p14:sldId id="321"/>
            <p14:sldId id="457"/>
            <p14:sldId id="353"/>
            <p14:sldId id="417"/>
            <p14:sldId id="318"/>
            <p14:sldId id="323"/>
            <p14:sldId id="326"/>
            <p14:sldId id="324"/>
            <p14:sldId id="460"/>
            <p14:sldId id="335"/>
            <p14:sldId id="333"/>
            <p14:sldId id="329"/>
            <p14:sldId id="411"/>
            <p14:sldId id="461"/>
            <p14:sldId id="337"/>
            <p14:sldId id="336"/>
            <p14:sldId id="412"/>
            <p14:sldId id="340"/>
            <p14:sldId id="338"/>
            <p14:sldId id="339"/>
            <p14:sldId id="420"/>
            <p14:sldId id="421"/>
            <p14:sldId id="374"/>
            <p14:sldId id="341"/>
            <p14:sldId id="422"/>
            <p14:sldId id="423"/>
            <p14:sldId id="343"/>
            <p14:sldId id="331"/>
            <p14:sldId id="418"/>
            <p14:sldId id="332"/>
          </p14:sldIdLst>
        </p14:section>
        <p14:section name="Module 2" id="{A684BD42-54E2-A14E-9155-9E09B1ADDAB0}">
          <p14:sldIdLst>
            <p14:sldId id="426"/>
            <p14:sldId id="369"/>
            <p14:sldId id="350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50"/>
            <p14:sldId id="439"/>
            <p14:sldId id="459"/>
            <p14:sldId id="442"/>
            <p14:sldId id="443"/>
            <p14:sldId id="444"/>
            <p14:sldId id="445"/>
            <p14:sldId id="440"/>
            <p14:sldId id="441"/>
            <p14:sldId id="446"/>
            <p14:sldId id="447"/>
            <p14:sldId id="449"/>
          </p14:sldIdLst>
        </p14:section>
        <p14:section name="Module 3" id="{235A1B06-986F-2645-8902-26B300C72AE0}">
          <p14:sldIdLst>
            <p14:sldId id="455"/>
            <p14:sldId id="389"/>
            <p14:sldId id="355"/>
            <p14:sldId id="392"/>
            <p14:sldId id="393"/>
            <p14:sldId id="394"/>
            <p14:sldId id="451"/>
            <p14:sldId id="467"/>
            <p14:sldId id="452"/>
            <p14:sldId id="462"/>
            <p14:sldId id="463"/>
            <p14:sldId id="464"/>
            <p14:sldId id="465"/>
            <p14:sldId id="398"/>
            <p14:sldId id="401"/>
            <p14:sldId id="456"/>
            <p14:sldId id="466"/>
            <p14:sldId id="403"/>
            <p14:sldId id="354"/>
            <p14:sldId id="458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13A89E"/>
    <a:srgbClr val="72B0AF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01517-AF34-013C-7FC4-A9670BEA3E73}" v="12" dt="2024-05-23T14:28:56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3447" autoAdjust="0"/>
  </p:normalViewPr>
  <p:slideViewPr>
    <p:cSldViewPr snapToGrid="0">
      <p:cViewPr varScale="1">
        <p:scale>
          <a:sx n="106" d="100"/>
          <a:sy n="106" d="100"/>
        </p:scale>
        <p:origin x="114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/>
            <a:t>UNIX operating system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File system structure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/>
            <a:t>File management 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Basic commands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sz="1200"/>
            <a:t>larisams</a:t>
          </a:r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/>
            <a:t>micm</a:t>
          </a:r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altLang="zh-CN" sz="1200" dirty="0"/>
            <a:t>ciz20</a:t>
          </a:r>
          <a:endParaRPr lang="en-US" sz="1200" dirty="0"/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 dirty="0" err="1"/>
            <a:t>micm</a:t>
          </a:r>
          <a:endParaRPr lang="en-US" sz="1200" dirty="0"/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Pipes and redirects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Variables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Pattern matching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Text processing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Shell scripting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Control structures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HPC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3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3"/>
      <dgm:spPr/>
    </dgm:pt>
    <dgm:pt modelId="{992D6E5C-D621-BB40-BBB1-BE76DCCDE2BB}" type="pres">
      <dgm:prSet presAssocID="{E3752088-6172-4C93-95C3-09B5B10304FD}" presName="dstNode" presStyleLbl="node1" presStyleIdx="0" presStyleCnt="3"/>
      <dgm:spPr/>
    </dgm:pt>
    <dgm:pt modelId="{E4A87509-75F4-6D44-A795-3D14AD66313C}" type="pres">
      <dgm:prSet presAssocID="{C8E49A0C-94DD-47C5-9B8E-75CEE7EC2CEB}" presName="text_1" presStyleLbl="node1" presStyleIdx="0" presStyleCnt="3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3"/>
      <dgm:spPr/>
    </dgm:pt>
    <dgm:pt modelId="{BEED42A9-3E21-9146-BF62-5CB43B43B982}" type="pres">
      <dgm:prSet presAssocID="{683AAE1A-F9B7-48D7-90A7-E69CE31785A3}" presName="text_2" presStyleLbl="node1" presStyleIdx="1" presStyleCnt="3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3"/>
      <dgm:spPr/>
    </dgm:pt>
    <dgm:pt modelId="{68612EE7-E741-344C-932A-53A34F324177}" type="pres">
      <dgm:prSet presAssocID="{700542C3-8AEA-4C27-8584-43E6CF604E1F}" presName="text_3" presStyleLbl="node1" presStyleIdx="2" presStyleCnt="3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3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5B0E06-79F0-4C4C-BF89-53F4CBE420D3}" type="doc">
      <dgm:prSet loTypeId="urn:microsoft.com/office/officeart/2005/8/layout/hierarchy5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E9B410C0-2273-492B-8985-5DD712E77B67}">
      <dgm:prSet phldrT="[Text]"/>
      <dgm:spPr/>
      <dgm:t>
        <a:bodyPr/>
        <a:lstStyle/>
        <a:p>
          <a:r>
            <a:rPr lang="en-US" dirty="0"/>
            <a:t>Your own machine - SSH</a:t>
          </a:r>
          <a:endParaRPr lang="en-CA" dirty="0"/>
        </a:p>
      </dgm:t>
    </dgm:pt>
    <dgm:pt modelId="{C1DC8F5E-B920-4AE0-AA33-3BD8888D2610}" type="parTrans" cxnId="{BC52C6F9-AD5F-48F8-B9B5-F2D7165D255A}">
      <dgm:prSet/>
      <dgm:spPr/>
      <dgm:t>
        <a:bodyPr/>
        <a:lstStyle/>
        <a:p>
          <a:endParaRPr lang="en-CA"/>
        </a:p>
      </dgm:t>
    </dgm:pt>
    <dgm:pt modelId="{CB78C784-D97F-494D-9317-8F55EEDAA998}" type="sibTrans" cxnId="{BC52C6F9-AD5F-48F8-B9B5-F2D7165D255A}">
      <dgm:prSet/>
      <dgm:spPr/>
      <dgm:t>
        <a:bodyPr/>
        <a:lstStyle/>
        <a:p>
          <a:endParaRPr lang="en-CA"/>
        </a:p>
      </dgm:t>
    </dgm:pt>
    <dgm:pt modelId="{44E8009B-F40A-4EEE-A871-8EC874A0E197}">
      <dgm:prSet phldrT="[Text]"/>
      <dgm:spPr/>
      <dgm:t>
        <a:bodyPr/>
        <a:lstStyle/>
        <a:p>
          <a:r>
            <a:rPr lang="en-US" dirty="0"/>
            <a:t>Long term Storage purposes</a:t>
          </a:r>
          <a:endParaRPr lang="en-CA" dirty="0"/>
        </a:p>
      </dgm:t>
    </dgm:pt>
    <dgm:pt modelId="{C8619FB5-7780-4635-8BD1-093AFA464B28}" type="parTrans" cxnId="{3659F32F-1A68-4614-874E-632EBFC2D769}">
      <dgm:prSet/>
      <dgm:spPr/>
      <dgm:t>
        <a:bodyPr/>
        <a:lstStyle/>
        <a:p>
          <a:endParaRPr lang="en-CA"/>
        </a:p>
      </dgm:t>
    </dgm:pt>
    <dgm:pt modelId="{5D3D9BAF-6F80-4BF0-97FB-9348BC87445A}" type="sibTrans" cxnId="{3659F32F-1A68-4614-874E-632EBFC2D769}">
      <dgm:prSet/>
      <dgm:spPr/>
      <dgm:t>
        <a:bodyPr/>
        <a:lstStyle/>
        <a:p>
          <a:endParaRPr lang="en-CA"/>
        </a:p>
      </dgm:t>
    </dgm:pt>
    <dgm:pt modelId="{31E9217A-93B1-4A89-91E8-05FC0379DED8}">
      <dgm:prSet phldrT="[Text]"/>
      <dgm:spPr/>
      <dgm:t>
        <a:bodyPr/>
        <a:lstStyle/>
        <a:p>
          <a:r>
            <a:rPr lang="en-US" dirty="0"/>
            <a:t>Nearline</a:t>
          </a:r>
          <a:endParaRPr lang="en-CA" dirty="0"/>
        </a:p>
      </dgm:t>
    </dgm:pt>
    <dgm:pt modelId="{7AF0C350-CD66-44B7-8BC9-4F59523D1918}" type="parTrans" cxnId="{613CF8B8-57D6-4B05-BE1B-D0800E99F3A6}">
      <dgm:prSet/>
      <dgm:spPr/>
      <dgm:t>
        <a:bodyPr/>
        <a:lstStyle/>
        <a:p>
          <a:endParaRPr lang="en-CA"/>
        </a:p>
      </dgm:t>
    </dgm:pt>
    <dgm:pt modelId="{9C104D4A-A402-49CA-AEB8-0FD91B5957BE}" type="sibTrans" cxnId="{613CF8B8-57D6-4B05-BE1B-D0800E99F3A6}">
      <dgm:prSet/>
      <dgm:spPr/>
      <dgm:t>
        <a:bodyPr/>
        <a:lstStyle/>
        <a:p>
          <a:endParaRPr lang="en-CA"/>
        </a:p>
      </dgm:t>
    </dgm:pt>
    <dgm:pt modelId="{BA5041A5-A584-4B44-83FC-8A73EF980347}">
      <dgm:prSet phldrT="[Text]"/>
      <dgm:spPr/>
      <dgm:t>
        <a:bodyPr/>
        <a:lstStyle/>
        <a:p>
          <a:r>
            <a:rPr lang="en-US" dirty="0"/>
            <a:t>Projects</a:t>
          </a:r>
          <a:endParaRPr lang="en-CA" dirty="0"/>
        </a:p>
      </dgm:t>
    </dgm:pt>
    <dgm:pt modelId="{92188678-ACE4-4566-AE49-2483D404FA21}" type="parTrans" cxnId="{E52B8F72-6809-4B46-BA50-96CAC30B7323}">
      <dgm:prSet/>
      <dgm:spPr/>
      <dgm:t>
        <a:bodyPr/>
        <a:lstStyle/>
        <a:p>
          <a:endParaRPr lang="en-CA"/>
        </a:p>
      </dgm:t>
    </dgm:pt>
    <dgm:pt modelId="{2B7FA8CA-FE5A-4FCE-B6E4-1FB3C7C903A8}" type="sibTrans" cxnId="{E52B8F72-6809-4B46-BA50-96CAC30B7323}">
      <dgm:prSet/>
      <dgm:spPr/>
      <dgm:t>
        <a:bodyPr/>
        <a:lstStyle/>
        <a:p>
          <a:endParaRPr lang="en-CA"/>
        </a:p>
      </dgm:t>
    </dgm:pt>
    <dgm:pt modelId="{6851458F-F23B-43ED-965C-05D02471AE62}">
      <dgm:prSet phldrT="[Text]"/>
      <dgm:spPr/>
      <dgm:t>
        <a:bodyPr/>
        <a:lstStyle/>
        <a:p>
          <a:r>
            <a:rPr lang="en-US" dirty="0"/>
            <a:t>Short term</a:t>
          </a:r>
          <a:endParaRPr lang="en-CA" dirty="0"/>
        </a:p>
      </dgm:t>
    </dgm:pt>
    <dgm:pt modelId="{05AC31ED-C203-408D-9C2A-0D556EFB701D}" type="parTrans" cxnId="{0A8D09AC-9ABF-4810-A05C-3294EDFB0ADA}">
      <dgm:prSet/>
      <dgm:spPr/>
      <dgm:t>
        <a:bodyPr/>
        <a:lstStyle/>
        <a:p>
          <a:endParaRPr lang="en-CA"/>
        </a:p>
      </dgm:t>
    </dgm:pt>
    <dgm:pt modelId="{61454B8C-99FE-49A9-BCBE-F3EFE9CE3660}" type="sibTrans" cxnId="{0A8D09AC-9ABF-4810-A05C-3294EDFB0ADA}">
      <dgm:prSet/>
      <dgm:spPr/>
      <dgm:t>
        <a:bodyPr/>
        <a:lstStyle/>
        <a:p>
          <a:endParaRPr lang="en-CA"/>
        </a:p>
      </dgm:t>
    </dgm:pt>
    <dgm:pt modelId="{4C933D45-EFD2-465B-9A75-ABED9DA9936D}">
      <dgm:prSet phldrT="[Text]"/>
      <dgm:spPr/>
      <dgm:t>
        <a:bodyPr/>
        <a:lstStyle/>
        <a:p>
          <a:r>
            <a:rPr lang="en-US" dirty="0"/>
            <a:t>Scratch</a:t>
          </a:r>
          <a:endParaRPr lang="en-CA" dirty="0"/>
        </a:p>
      </dgm:t>
    </dgm:pt>
    <dgm:pt modelId="{84F0DF5D-2F01-45BD-830D-080552C432BA}" type="parTrans" cxnId="{B85F27A9-05F1-40B9-BB27-107B7619206B}">
      <dgm:prSet/>
      <dgm:spPr/>
      <dgm:t>
        <a:bodyPr/>
        <a:lstStyle/>
        <a:p>
          <a:endParaRPr lang="en-CA"/>
        </a:p>
      </dgm:t>
    </dgm:pt>
    <dgm:pt modelId="{E7118A8E-1992-4E49-9C52-78FEBCF89651}" type="sibTrans" cxnId="{B85F27A9-05F1-40B9-BB27-107B7619206B}">
      <dgm:prSet/>
      <dgm:spPr/>
      <dgm:t>
        <a:bodyPr/>
        <a:lstStyle/>
        <a:p>
          <a:endParaRPr lang="en-CA"/>
        </a:p>
      </dgm:t>
    </dgm:pt>
    <dgm:pt modelId="{4E0364E6-126D-4BBE-B3D3-4C29AFDE3DC3}">
      <dgm:prSet phldrT="[Text]"/>
      <dgm:spPr/>
      <dgm:t>
        <a:bodyPr/>
        <a:lstStyle/>
        <a:p>
          <a:r>
            <a:rPr lang="en-US" dirty="0"/>
            <a:t>User side</a:t>
          </a:r>
          <a:endParaRPr lang="en-CA" dirty="0"/>
        </a:p>
      </dgm:t>
    </dgm:pt>
    <dgm:pt modelId="{41DF5CDD-59FB-4E63-9F25-735618732647}" type="parTrans" cxnId="{8EE0C683-08D5-4081-A05C-044A7C837C86}">
      <dgm:prSet/>
      <dgm:spPr/>
      <dgm:t>
        <a:bodyPr/>
        <a:lstStyle/>
        <a:p>
          <a:endParaRPr lang="en-CA"/>
        </a:p>
      </dgm:t>
    </dgm:pt>
    <dgm:pt modelId="{AEFD669A-016B-45F8-AB69-6B82F79D4753}" type="sibTrans" cxnId="{8EE0C683-08D5-4081-A05C-044A7C837C86}">
      <dgm:prSet/>
      <dgm:spPr/>
      <dgm:t>
        <a:bodyPr/>
        <a:lstStyle/>
        <a:p>
          <a:endParaRPr lang="en-CA"/>
        </a:p>
      </dgm:t>
    </dgm:pt>
    <dgm:pt modelId="{0F6F6D6D-7D2F-4537-92C7-B3C1BA7D2937}">
      <dgm:prSet phldrT="[Text]"/>
      <dgm:spPr/>
      <dgm:t>
        <a:bodyPr/>
        <a:lstStyle/>
        <a:p>
          <a:r>
            <a:rPr lang="en-US" dirty="0"/>
            <a:t>Cluster Login node (</a:t>
          </a:r>
          <a:r>
            <a:rPr lang="en-US" dirty="0" err="1"/>
            <a:t>Headnode</a:t>
          </a:r>
          <a:r>
            <a:rPr lang="en-US" dirty="0"/>
            <a:t>)</a:t>
          </a:r>
          <a:endParaRPr lang="en-CA" dirty="0"/>
        </a:p>
      </dgm:t>
    </dgm:pt>
    <dgm:pt modelId="{84051512-F37A-4417-A8AD-43D81F55D728}" type="parTrans" cxnId="{437759F2-1B16-4FAC-914D-B699567B3775}">
      <dgm:prSet/>
      <dgm:spPr/>
      <dgm:t>
        <a:bodyPr/>
        <a:lstStyle/>
        <a:p>
          <a:endParaRPr lang="en-CA"/>
        </a:p>
      </dgm:t>
    </dgm:pt>
    <dgm:pt modelId="{280BC8D2-CD82-4CD1-880C-F5DEFA2B2C96}" type="sibTrans" cxnId="{437759F2-1B16-4FAC-914D-B699567B3775}">
      <dgm:prSet/>
      <dgm:spPr/>
      <dgm:t>
        <a:bodyPr/>
        <a:lstStyle/>
        <a:p>
          <a:endParaRPr lang="en-CA"/>
        </a:p>
      </dgm:t>
    </dgm:pt>
    <dgm:pt modelId="{09485467-04CC-46A8-90F0-6E85912A4AC7}">
      <dgm:prSet phldrT="[Text]"/>
      <dgm:spPr/>
      <dgm:t>
        <a:bodyPr/>
        <a:lstStyle/>
        <a:p>
          <a:r>
            <a:rPr lang="en-US" dirty="0"/>
            <a:t>Cluster Storage types</a:t>
          </a:r>
          <a:endParaRPr lang="en-CA" dirty="0"/>
        </a:p>
      </dgm:t>
    </dgm:pt>
    <dgm:pt modelId="{FB24FF65-F97D-4ED9-A500-B53F38CBA7D4}" type="parTrans" cxnId="{CDF8831E-A11C-464B-85EC-56165EFF7DBA}">
      <dgm:prSet/>
      <dgm:spPr/>
      <dgm:t>
        <a:bodyPr/>
        <a:lstStyle/>
        <a:p>
          <a:endParaRPr lang="en-CA"/>
        </a:p>
      </dgm:t>
    </dgm:pt>
    <dgm:pt modelId="{2B1120DC-1A05-4996-A4DB-59EC17CE751B}" type="sibTrans" cxnId="{CDF8831E-A11C-464B-85EC-56165EFF7DBA}">
      <dgm:prSet/>
      <dgm:spPr/>
      <dgm:t>
        <a:bodyPr/>
        <a:lstStyle/>
        <a:p>
          <a:endParaRPr lang="en-CA"/>
        </a:p>
      </dgm:t>
    </dgm:pt>
    <dgm:pt modelId="{6E7F9489-122C-4CD7-BAB8-0D6C2C50FC98}" type="pres">
      <dgm:prSet presAssocID="{1C5B0E06-79F0-4C4C-BF89-53F4CBE420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791189-862F-4D51-A82C-33B6B6EDE0BA}" type="pres">
      <dgm:prSet presAssocID="{1C5B0E06-79F0-4C4C-BF89-53F4CBE420D3}" presName="hierFlow" presStyleCnt="0"/>
      <dgm:spPr/>
    </dgm:pt>
    <dgm:pt modelId="{DD7EC7EC-D410-433F-B667-2FAF6B59F8BE}" type="pres">
      <dgm:prSet presAssocID="{1C5B0E06-79F0-4C4C-BF89-53F4CBE420D3}" presName="firstBuf" presStyleCnt="0"/>
      <dgm:spPr/>
    </dgm:pt>
    <dgm:pt modelId="{79319165-508D-430D-8C4B-F8DB0AE11B50}" type="pres">
      <dgm:prSet presAssocID="{1C5B0E06-79F0-4C4C-BF89-53F4CBE420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EF8A797-2CE5-4530-9D69-C449BB032A1F}" type="pres">
      <dgm:prSet presAssocID="{E9B410C0-2273-492B-8985-5DD712E77B67}" presName="Name17" presStyleCnt="0"/>
      <dgm:spPr/>
    </dgm:pt>
    <dgm:pt modelId="{49610F4E-07BA-4940-BBDB-2E11AF2BEFC5}" type="pres">
      <dgm:prSet presAssocID="{E9B410C0-2273-492B-8985-5DD712E77B67}" presName="level1Shape" presStyleLbl="node0" presStyleIdx="0" presStyleCnt="1">
        <dgm:presLayoutVars>
          <dgm:chPref val="3"/>
        </dgm:presLayoutVars>
      </dgm:prSet>
      <dgm:spPr/>
    </dgm:pt>
    <dgm:pt modelId="{6C650FAF-BB3C-4E17-B512-8262B6D1C6E6}" type="pres">
      <dgm:prSet presAssocID="{E9B410C0-2273-492B-8985-5DD712E77B67}" presName="hierChild2" presStyleCnt="0"/>
      <dgm:spPr/>
    </dgm:pt>
    <dgm:pt modelId="{99C9FF49-E88B-460D-A53B-465AA4B89430}" type="pres">
      <dgm:prSet presAssocID="{C8619FB5-7780-4635-8BD1-093AFA464B28}" presName="Name25" presStyleLbl="parChTrans1D2" presStyleIdx="0" presStyleCnt="2"/>
      <dgm:spPr/>
    </dgm:pt>
    <dgm:pt modelId="{EA2D88AA-A0B4-494C-B06E-76C310F8B6F8}" type="pres">
      <dgm:prSet presAssocID="{C8619FB5-7780-4635-8BD1-093AFA464B28}" presName="connTx" presStyleLbl="parChTrans1D2" presStyleIdx="0" presStyleCnt="2"/>
      <dgm:spPr/>
    </dgm:pt>
    <dgm:pt modelId="{ABBC6CF5-CA91-484F-B57C-69405C6B55C2}" type="pres">
      <dgm:prSet presAssocID="{44E8009B-F40A-4EEE-A871-8EC874A0E197}" presName="Name30" presStyleCnt="0"/>
      <dgm:spPr/>
    </dgm:pt>
    <dgm:pt modelId="{B2D07966-20B6-4B40-8A65-556C855EC923}" type="pres">
      <dgm:prSet presAssocID="{44E8009B-F40A-4EEE-A871-8EC874A0E197}" presName="level2Shape" presStyleLbl="node2" presStyleIdx="0" presStyleCnt="2"/>
      <dgm:spPr/>
    </dgm:pt>
    <dgm:pt modelId="{F0FD1646-868A-4075-956D-CD22B8D27FE7}" type="pres">
      <dgm:prSet presAssocID="{44E8009B-F40A-4EEE-A871-8EC874A0E197}" presName="hierChild3" presStyleCnt="0"/>
      <dgm:spPr/>
    </dgm:pt>
    <dgm:pt modelId="{A1A0201B-2BAB-4F96-A6C0-630FBD3D2BED}" type="pres">
      <dgm:prSet presAssocID="{7AF0C350-CD66-44B7-8BC9-4F59523D1918}" presName="Name25" presStyleLbl="parChTrans1D3" presStyleIdx="0" presStyleCnt="3"/>
      <dgm:spPr/>
    </dgm:pt>
    <dgm:pt modelId="{887C9F22-3B2F-4176-898A-82DD73AF2F5F}" type="pres">
      <dgm:prSet presAssocID="{7AF0C350-CD66-44B7-8BC9-4F59523D1918}" presName="connTx" presStyleLbl="parChTrans1D3" presStyleIdx="0" presStyleCnt="3"/>
      <dgm:spPr/>
    </dgm:pt>
    <dgm:pt modelId="{EDC0ACAE-7B68-4AEE-8710-A6EC3EB9E1F9}" type="pres">
      <dgm:prSet presAssocID="{31E9217A-93B1-4A89-91E8-05FC0379DED8}" presName="Name30" presStyleCnt="0"/>
      <dgm:spPr/>
    </dgm:pt>
    <dgm:pt modelId="{0229854B-E60F-4214-AB00-FF4D7B7DC27D}" type="pres">
      <dgm:prSet presAssocID="{31E9217A-93B1-4A89-91E8-05FC0379DED8}" presName="level2Shape" presStyleLbl="node3" presStyleIdx="0" presStyleCnt="3"/>
      <dgm:spPr/>
    </dgm:pt>
    <dgm:pt modelId="{12F9095F-F6DB-4817-90B7-658569D63403}" type="pres">
      <dgm:prSet presAssocID="{31E9217A-93B1-4A89-91E8-05FC0379DED8}" presName="hierChild3" presStyleCnt="0"/>
      <dgm:spPr/>
    </dgm:pt>
    <dgm:pt modelId="{F0A14C54-94CC-4BE6-9C95-BCF2CF85DF8D}" type="pres">
      <dgm:prSet presAssocID="{92188678-ACE4-4566-AE49-2483D404FA21}" presName="Name25" presStyleLbl="parChTrans1D3" presStyleIdx="1" presStyleCnt="3"/>
      <dgm:spPr/>
    </dgm:pt>
    <dgm:pt modelId="{8053BF5D-5AA7-4C73-8C41-5FC2DF964401}" type="pres">
      <dgm:prSet presAssocID="{92188678-ACE4-4566-AE49-2483D404FA21}" presName="connTx" presStyleLbl="parChTrans1D3" presStyleIdx="1" presStyleCnt="3"/>
      <dgm:spPr/>
    </dgm:pt>
    <dgm:pt modelId="{DAF1BF8E-94CC-4404-A7BF-F60AD99A7013}" type="pres">
      <dgm:prSet presAssocID="{BA5041A5-A584-4B44-83FC-8A73EF980347}" presName="Name30" presStyleCnt="0"/>
      <dgm:spPr/>
    </dgm:pt>
    <dgm:pt modelId="{37B9E942-C36E-4E6B-AFAA-A909B04C6AD1}" type="pres">
      <dgm:prSet presAssocID="{BA5041A5-A584-4B44-83FC-8A73EF980347}" presName="level2Shape" presStyleLbl="node3" presStyleIdx="1" presStyleCnt="3"/>
      <dgm:spPr/>
    </dgm:pt>
    <dgm:pt modelId="{1BF78A74-DF39-4F1C-8E1D-881F5F524CDC}" type="pres">
      <dgm:prSet presAssocID="{BA5041A5-A584-4B44-83FC-8A73EF980347}" presName="hierChild3" presStyleCnt="0"/>
      <dgm:spPr/>
    </dgm:pt>
    <dgm:pt modelId="{F11C62BF-5F79-4106-A118-E3D9737ECC21}" type="pres">
      <dgm:prSet presAssocID="{05AC31ED-C203-408D-9C2A-0D556EFB701D}" presName="Name25" presStyleLbl="parChTrans1D2" presStyleIdx="1" presStyleCnt="2"/>
      <dgm:spPr/>
    </dgm:pt>
    <dgm:pt modelId="{AB0562EE-E339-4F4D-BE2A-72967BDB5E25}" type="pres">
      <dgm:prSet presAssocID="{05AC31ED-C203-408D-9C2A-0D556EFB701D}" presName="connTx" presStyleLbl="parChTrans1D2" presStyleIdx="1" presStyleCnt="2"/>
      <dgm:spPr/>
    </dgm:pt>
    <dgm:pt modelId="{AE93FE1C-806B-4F1D-945E-CCB56F395B62}" type="pres">
      <dgm:prSet presAssocID="{6851458F-F23B-43ED-965C-05D02471AE62}" presName="Name30" presStyleCnt="0"/>
      <dgm:spPr/>
    </dgm:pt>
    <dgm:pt modelId="{5FCBA445-8F50-4EC5-81E1-3F095A9381E7}" type="pres">
      <dgm:prSet presAssocID="{6851458F-F23B-43ED-965C-05D02471AE62}" presName="level2Shape" presStyleLbl="node2" presStyleIdx="1" presStyleCnt="2"/>
      <dgm:spPr/>
    </dgm:pt>
    <dgm:pt modelId="{632DA451-0E7E-45CD-B55E-063602413295}" type="pres">
      <dgm:prSet presAssocID="{6851458F-F23B-43ED-965C-05D02471AE62}" presName="hierChild3" presStyleCnt="0"/>
      <dgm:spPr/>
    </dgm:pt>
    <dgm:pt modelId="{54299331-0F7E-4421-86EB-F165B5255043}" type="pres">
      <dgm:prSet presAssocID="{84F0DF5D-2F01-45BD-830D-080552C432BA}" presName="Name25" presStyleLbl="parChTrans1D3" presStyleIdx="2" presStyleCnt="3"/>
      <dgm:spPr/>
    </dgm:pt>
    <dgm:pt modelId="{5FFB6194-C4EB-4731-B49B-85F8A9B1EDA2}" type="pres">
      <dgm:prSet presAssocID="{84F0DF5D-2F01-45BD-830D-080552C432BA}" presName="connTx" presStyleLbl="parChTrans1D3" presStyleIdx="2" presStyleCnt="3"/>
      <dgm:spPr/>
    </dgm:pt>
    <dgm:pt modelId="{C6121424-2DDB-4061-9903-10A1DA0A711A}" type="pres">
      <dgm:prSet presAssocID="{4C933D45-EFD2-465B-9A75-ABED9DA9936D}" presName="Name30" presStyleCnt="0"/>
      <dgm:spPr/>
    </dgm:pt>
    <dgm:pt modelId="{B095683F-763A-4DA4-9061-ED6EA8386CEB}" type="pres">
      <dgm:prSet presAssocID="{4C933D45-EFD2-465B-9A75-ABED9DA9936D}" presName="level2Shape" presStyleLbl="node3" presStyleIdx="2" presStyleCnt="3"/>
      <dgm:spPr/>
    </dgm:pt>
    <dgm:pt modelId="{74F7DDC3-6FFA-4507-BB53-F70803A46529}" type="pres">
      <dgm:prSet presAssocID="{4C933D45-EFD2-465B-9A75-ABED9DA9936D}" presName="hierChild3" presStyleCnt="0"/>
      <dgm:spPr/>
    </dgm:pt>
    <dgm:pt modelId="{8D92520F-49C3-4145-A8F2-D2951669D452}" type="pres">
      <dgm:prSet presAssocID="{1C5B0E06-79F0-4C4C-BF89-53F4CBE420D3}" presName="bgShapesFlow" presStyleCnt="0"/>
      <dgm:spPr/>
    </dgm:pt>
    <dgm:pt modelId="{CFA55D4A-C0B0-44DB-948E-67453EA46D7B}" type="pres">
      <dgm:prSet presAssocID="{4E0364E6-126D-4BBE-B3D3-4C29AFDE3DC3}" presName="rectComp" presStyleCnt="0"/>
      <dgm:spPr/>
    </dgm:pt>
    <dgm:pt modelId="{DB6D3D4B-1E54-4740-A569-CD3A7E1C9DBE}" type="pres">
      <dgm:prSet presAssocID="{4E0364E6-126D-4BBE-B3D3-4C29AFDE3DC3}" presName="bgRect" presStyleLbl="bgShp" presStyleIdx="0" presStyleCnt="3"/>
      <dgm:spPr/>
    </dgm:pt>
    <dgm:pt modelId="{BD61B98A-361C-4DCC-99E4-3AE6AC3218EB}" type="pres">
      <dgm:prSet presAssocID="{4E0364E6-126D-4BBE-B3D3-4C29AFDE3DC3}" presName="bgRectTx" presStyleLbl="bgShp" presStyleIdx="0" presStyleCnt="3">
        <dgm:presLayoutVars>
          <dgm:bulletEnabled val="1"/>
        </dgm:presLayoutVars>
      </dgm:prSet>
      <dgm:spPr/>
    </dgm:pt>
    <dgm:pt modelId="{26555265-7071-4462-AC39-BF028DAE5899}" type="pres">
      <dgm:prSet presAssocID="{4E0364E6-126D-4BBE-B3D3-4C29AFDE3DC3}" presName="spComp" presStyleCnt="0"/>
      <dgm:spPr/>
    </dgm:pt>
    <dgm:pt modelId="{6DB804DC-02E6-4169-999F-AF338A7996CC}" type="pres">
      <dgm:prSet presAssocID="{4E0364E6-126D-4BBE-B3D3-4C29AFDE3DC3}" presName="hSp" presStyleCnt="0"/>
      <dgm:spPr/>
    </dgm:pt>
    <dgm:pt modelId="{DF5048D5-4E6A-4091-96B9-D750E9280CC3}" type="pres">
      <dgm:prSet presAssocID="{0F6F6D6D-7D2F-4537-92C7-B3C1BA7D2937}" presName="rectComp" presStyleCnt="0"/>
      <dgm:spPr/>
    </dgm:pt>
    <dgm:pt modelId="{C7FD4E8B-BC34-493F-8C39-4F8F962ECBA8}" type="pres">
      <dgm:prSet presAssocID="{0F6F6D6D-7D2F-4537-92C7-B3C1BA7D2937}" presName="bgRect" presStyleLbl="bgShp" presStyleIdx="1" presStyleCnt="3"/>
      <dgm:spPr/>
    </dgm:pt>
    <dgm:pt modelId="{775F0198-2C91-49C7-8380-8D1F5011F5B5}" type="pres">
      <dgm:prSet presAssocID="{0F6F6D6D-7D2F-4537-92C7-B3C1BA7D2937}" presName="bgRectTx" presStyleLbl="bgShp" presStyleIdx="1" presStyleCnt="3">
        <dgm:presLayoutVars>
          <dgm:bulletEnabled val="1"/>
        </dgm:presLayoutVars>
      </dgm:prSet>
      <dgm:spPr/>
    </dgm:pt>
    <dgm:pt modelId="{62A01501-1B83-454F-904C-896383E632D0}" type="pres">
      <dgm:prSet presAssocID="{0F6F6D6D-7D2F-4537-92C7-B3C1BA7D2937}" presName="spComp" presStyleCnt="0"/>
      <dgm:spPr/>
    </dgm:pt>
    <dgm:pt modelId="{F7C0E644-565B-4651-A260-E7A9614316B3}" type="pres">
      <dgm:prSet presAssocID="{0F6F6D6D-7D2F-4537-92C7-B3C1BA7D2937}" presName="hSp" presStyleCnt="0"/>
      <dgm:spPr/>
    </dgm:pt>
    <dgm:pt modelId="{487AFC9B-9514-4CCA-812F-49BE5AEEDCF9}" type="pres">
      <dgm:prSet presAssocID="{09485467-04CC-46A8-90F0-6E85912A4AC7}" presName="rectComp" presStyleCnt="0"/>
      <dgm:spPr/>
    </dgm:pt>
    <dgm:pt modelId="{9FE8C2E4-DE8E-48DB-831C-A76987CDB44B}" type="pres">
      <dgm:prSet presAssocID="{09485467-04CC-46A8-90F0-6E85912A4AC7}" presName="bgRect" presStyleLbl="bgShp" presStyleIdx="2" presStyleCnt="3"/>
      <dgm:spPr/>
    </dgm:pt>
    <dgm:pt modelId="{50134DED-B105-42EB-9D1F-C117F348E918}" type="pres">
      <dgm:prSet presAssocID="{09485467-04CC-46A8-90F0-6E85912A4AC7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BA78F601-39E1-4A13-A5C0-D9531BF1A9AE}" type="presOf" srcId="{0F6F6D6D-7D2F-4537-92C7-B3C1BA7D2937}" destId="{C7FD4E8B-BC34-493F-8C39-4F8F962ECBA8}" srcOrd="0" destOrd="0" presId="urn:microsoft.com/office/officeart/2005/8/layout/hierarchy5"/>
    <dgm:cxn modelId="{E1852802-0855-4AB9-A324-A7DF05CF9A56}" type="presOf" srcId="{1C5B0E06-79F0-4C4C-BF89-53F4CBE420D3}" destId="{6E7F9489-122C-4CD7-BAB8-0D6C2C50FC98}" srcOrd="0" destOrd="0" presId="urn:microsoft.com/office/officeart/2005/8/layout/hierarchy5"/>
    <dgm:cxn modelId="{180E4E0F-8845-40C0-9F66-F17F63BB2C5F}" type="presOf" srcId="{44E8009B-F40A-4EEE-A871-8EC874A0E197}" destId="{B2D07966-20B6-4B40-8A65-556C855EC923}" srcOrd="0" destOrd="0" presId="urn:microsoft.com/office/officeart/2005/8/layout/hierarchy5"/>
    <dgm:cxn modelId="{CDF8831E-A11C-464B-85EC-56165EFF7DBA}" srcId="{1C5B0E06-79F0-4C4C-BF89-53F4CBE420D3}" destId="{09485467-04CC-46A8-90F0-6E85912A4AC7}" srcOrd="3" destOrd="0" parTransId="{FB24FF65-F97D-4ED9-A500-B53F38CBA7D4}" sibTransId="{2B1120DC-1A05-4996-A4DB-59EC17CE751B}"/>
    <dgm:cxn modelId="{3659F32F-1A68-4614-874E-632EBFC2D769}" srcId="{E9B410C0-2273-492B-8985-5DD712E77B67}" destId="{44E8009B-F40A-4EEE-A871-8EC874A0E197}" srcOrd="0" destOrd="0" parTransId="{C8619FB5-7780-4635-8BD1-093AFA464B28}" sibTransId="{5D3D9BAF-6F80-4BF0-97FB-9348BC87445A}"/>
    <dgm:cxn modelId="{5CFF3337-E6E7-4B0F-82EA-569627CB8050}" type="presOf" srcId="{09485467-04CC-46A8-90F0-6E85912A4AC7}" destId="{9FE8C2E4-DE8E-48DB-831C-A76987CDB44B}" srcOrd="0" destOrd="0" presId="urn:microsoft.com/office/officeart/2005/8/layout/hierarchy5"/>
    <dgm:cxn modelId="{D14A673B-49E7-4940-A6DD-B850A089F9DB}" type="presOf" srcId="{4E0364E6-126D-4BBE-B3D3-4C29AFDE3DC3}" destId="{DB6D3D4B-1E54-4740-A569-CD3A7E1C9DBE}" srcOrd="0" destOrd="0" presId="urn:microsoft.com/office/officeart/2005/8/layout/hierarchy5"/>
    <dgm:cxn modelId="{2C51B741-66AE-4984-8D74-5CCAAABE8CC1}" type="presOf" srcId="{05AC31ED-C203-408D-9C2A-0D556EFB701D}" destId="{F11C62BF-5F79-4106-A118-E3D9737ECC21}" srcOrd="0" destOrd="0" presId="urn:microsoft.com/office/officeart/2005/8/layout/hierarchy5"/>
    <dgm:cxn modelId="{876CFC69-2018-4BEB-BC49-06482EAAFAA7}" type="presOf" srcId="{6851458F-F23B-43ED-965C-05D02471AE62}" destId="{5FCBA445-8F50-4EC5-81E1-3F095A9381E7}" srcOrd="0" destOrd="0" presId="urn:microsoft.com/office/officeart/2005/8/layout/hierarchy5"/>
    <dgm:cxn modelId="{E4B7C34F-112E-4936-A405-EAC97D0544BF}" type="presOf" srcId="{4E0364E6-126D-4BBE-B3D3-4C29AFDE3DC3}" destId="{BD61B98A-361C-4DCC-99E4-3AE6AC3218EB}" srcOrd="1" destOrd="0" presId="urn:microsoft.com/office/officeart/2005/8/layout/hierarchy5"/>
    <dgm:cxn modelId="{E52B8F72-6809-4B46-BA50-96CAC30B7323}" srcId="{44E8009B-F40A-4EEE-A871-8EC874A0E197}" destId="{BA5041A5-A584-4B44-83FC-8A73EF980347}" srcOrd="1" destOrd="0" parTransId="{92188678-ACE4-4566-AE49-2483D404FA21}" sibTransId="{2B7FA8CA-FE5A-4FCE-B6E4-1FB3C7C903A8}"/>
    <dgm:cxn modelId="{5EA57857-5BCB-489B-A9C8-4DFAA6893BC1}" type="presOf" srcId="{7AF0C350-CD66-44B7-8BC9-4F59523D1918}" destId="{887C9F22-3B2F-4176-898A-82DD73AF2F5F}" srcOrd="1" destOrd="0" presId="urn:microsoft.com/office/officeart/2005/8/layout/hierarchy5"/>
    <dgm:cxn modelId="{A675A682-66AC-4603-8328-B7D240CFAD4B}" type="presOf" srcId="{92188678-ACE4-4566-AE49-2483D404FA21}" destId="{F0A14C54-94CC-4BE6-9C95-BCF2CF85DF8D}" srcOrd="0" destOrd="0" presId="urn:microsoft.com/office/officeart/2005/8/layout/hierarchy5"/>
    <dgm:cxn modelId="{8EE0C683-08D5-4081-A05C-044A7C837C86}" srcId="{1C5B0E06-79F0-4C4C-BF89-53F4CBE420D3}" destId="{4E0364E6-126D-4BBE-B3D3-4C29AFDE3DC3}" srcOrd="1" destOrd="0" parTransId="{41DF5CDD-59FB-4E63-9F25-735618732647}" sibTransId="{AEFD669A-016B-45F8-AB69-6B82F79D4753}"/>
    <dgm:cxn modelId="{B8453C8B-FE8B-45AD-9437-ACEF9A080C22}" type="presOf" srcId="{BA5041A5-A584-4B44-83FC-8A73EF980347}" destId="{37B9E942-C36E-4E6B-AFAA-A909B04C6AD1}" srcOrd="0" destOrd="0" presId="urn:microsoft.com/office/officeart/2005/8/layout/hierarchy5"/>
    <dgm:cxn modelId="{0623CD8E-EB19-4609-9316-E0584EAFE2B1}" type="presOf" srcId="{92188678-ACE4-4566-AE49-2483D404FA21}" destId="{8053BF5D-5AA7-4C73-8C41-5FC2DF964401}" srcOrd="1" destOrd="0" presId="urn:microsoft.com/office/officeart/2005/8/layout/hierarchy5"/>
    <dgm:cxn modelId="{CE46D998-DABD-4E04-B842-E9B484502963}" type="presOf" srcId="{7AF0C350-CD66-44B7-8BC9-4F59523D1918}" destId="{A1A0201B-2BAB-4F96-A6C0-630FBD3D2BED}" srcOrd="0" destOrd="0" presId="urn:microsoft.com/office/officeart/2005/8/layout/hierarchy5"/>
    <dgm:cxn modelId="{B85F27A9-05F1-40B9-BB27-107B7619206B}" srcId="{6851458F-F23B-43ED-965C-05D02471AE62}" destId="{4C933D45-EFD2-465B-9A75-ABED9DA9936D}" srcOrd="0" destOrd="0" parTransId="{84F0DF5D-2F01-45BD-830D-080552C432BA}" sibTransId="{E7118A8E-1992-4E49-9C52-78FEBCF89651}"/>
    <dgm:cxn modelId="{00D972A9-27B7-43A3-867F-37CC3ECD170E}" type="presOf" srcId="{09485467-04CC-46A8-90F0-6E85912A4AC7}" destId="{50134DED-B105-42EB-9D1F-C117F348E918}" srcOrd="1" destOrd="0" presId="urn:microsoft.com/office/officeart/2005/8/layout/hierarchy5"/>
    <dgm:cxn modelId="{0A8D09AC-9ABF-4810-A05C-3294EDFB0ADA}" srcId="{E9B410C0-2273-492B-8985-5DD712E77B67}" destId="{6851458F-F23B-43ED-965C-05D02471AE62}" srcOrd="1" destOrd="0" parTransId="{05AC31ED-C203-408D-9C2A-0D556EFB701D}" sibTransId="{61454B8C-99FE-49A9-BCBE-F3EFE9CE3660}"/>
    <dgm:cxn modelId="{F03EA4B6-4B38-4957-99BE-176FA48972FA}" type="presOf" srcId="{05AC31ED-C203-408D-9C2A-0D556EFB701D}" destId="{AB0562EE-E339-4F4D-BE2A-72967BDB5E25}" srcOrd="1" destOrd="0" presId="urn:microsoft.com/office/officeart/2005/8/layout/hierarchy5"/>
    <dgm:cxn modelId="{613CF8B8-57D6-4B05-BE1B-D0800E99F3A6}" srcId="{44E8009B-F40A-4EEE-A871-8EC874A0E197}" destId="{31E9217A-93B1-4A89-91E8-05FC0379DED8}" srcOrd="0" destOrd="0" parTransId="{7AF0C350-CD66-44B7-8BC9-4F59523D1918}" sibTransId="{9C104D4A-A402-49CA-AEB8-0FD91B5957BE}"/>
    <dgm:cxn modelId="{8EB4C8C0-7935-49A8-9628-DB5014DD364B}" type="presOf" srcId="{84F0DF5D-2F01-45BD-830D-080552C432BA}" destId="{5FFB6194-C4EB-4731-B49B-85F8A9B1EDA2}" srcOrd="1" destOrd="0" presId="urn:microsoft.com/office/officeart/2005/8/layout/hierarchy5"/>
    <dgm:cxn modelId="{F10B5ECF-7AB7-446A-8E9C-A8BCB2437566}" type="presOf" srcId="{E9B410C0-2273-492B-8985-5DD712E77B67}" destId="{49610F4E-07BA-4940-BBDB-2E11AF2BEFC5}" srcOrd="0" destOrd="0" presId="urn:microsoft.com/office/officeart/2005/8/layout/hierarchy5"/>
    <dgm:cxn modelId="{7C60AFCF-DEAF-4AAE-8538-B6C9D0D4DBC8}" type="presOf" srcId="{84F0DF5D-2F01-45BD-830D-080552C432BA}" destId="{54299331-0F7E-4421-86EB-F165B5255043}" srcOrd="0" destOrd="0" presId="urn:microsoft.com/office/officeart/2005/8/layout/hierarchy5"/>
    <dgm:cxn modelId="{FCE676DF-DCA8-4610-9559-386442FBF8D1}" type="presOf" srcId="{4C933D45-EFD2-465B-9A75-ABED9DA9936D}" destId="{B095683F-763A-4DA4-9061-ED6EA8386CEB}" srcOrd="0" destOrd="0" presId="urn:microsoft.com/office/officeart/2005/8/layout/hierarchy5"/>
    <dgm:cxn modelId="{B30285E0-6356-43BB-B513-E750838F01BA}" type="presOf" srcId="{31E9217A-93B1-4A89-91E8-05FC0379DED8}" destId="{0229854B-E60F-4214-AB00-FF4D7B7DC27D}" srcOrd="0" destOrd="0" presId="urn:microsoft.com/office/officeart/2005/8/layout/hierarchy5"/>
    <dgm:cxn modelId="{534D6EEE-CF8F-4D60-9765-E1561DC740E5}" type="presOf" srcId="{C8619FB5-7780-4635-8BD1-093AFA464B28}" destId="{99C9FF49-E88B-460D-A53B-465AA4B89430}" srcOrd="0" destOrd="0" presId="urn:microsoft.com/office/officeart/2005/8/layout/hierarchy5"/>
    <dgm:cxn modelId="{437759F2-1B16-4FAC-914D-B699567B3775}" srcId="{1C5B0E06-79F0-4C4C-BF89-53F4CBE420D3}" destId="{0F6F6D6D-7D2F-4537-92C7-B3C1BA7D2937}" srcOrd="2" destOrd="0" parTransId="{84051512-F37A-4417-A8AD-43D81F55D728}" sibTransId="{280BC8D2-CD82-4CD1-880C-F5DEFA2B2C96}"/>
    <dgm:cxn modelId="{71BC83F8-8FF7-411F-9CDC-5FFC7367DC9F}" type="presOf" srcId="{C8619FB5-7780-4635-8BD1-093AFA464B28}" destId="{EA2D88AA-A0B4-494C-B06E-76C310F8B6F8}" srcOrd="1" destOrd="0" presId="urn:microsoft.com/office/officeart/2005/8/layout/hierarchy5"/>
    <dgm:cxn modelId="{BC52C6F9-AD5F-48F8-B9B5-F2D7165D255A}" srcId="{1C5B0E06-79F0-4C4C-BF89-53F4CBE420D3}" destId="{E9B410C0-2273-492B-8985-5DD712E77B67}" srcOrd="0" destOrd="0" parTransId="{C1DC8F5E-B920-4AE0-AA33-3BD8888D2610}" sibTransId="{CB78C784-D97F-494D-9317-8F55EEDAA998}"/>
    <dgm:cxn modelId="{661EE1FE-3A4A-4D59-B913-4C25EF8A890E}" type="presOf" srcId="{0F6F6D6D-7D2F-4537-92C7-B3C1BA7D2937}" destId="{775F0198-2C91-49C7-8380-8D1F5011F5B5}" srcOrd="1" destOrd="0" presId="urn:microsoft.com/office/officeart/2005/8/layout/hierarchy5"/>
    <dgm:cxn modelId="{E67B5C9D-E700-4885-8FA1-DF6A8E2B5322}" type="presParOf" srcId="{6E7F9489-122C-4CD7-BAB8-0D6C2C50FC98}" destId="{20791189-862F-4D51-A82C-33B6B6EDE0BA}" srcOrd="0" destOrd="0" presId="urn:microsoft.com/office/officeart/2005/8/layout/hierarchy5"/>
    <dgm:cxn modelId="{1C90D131-BA0A-4B3C-8AAB-F0B9298A508F}" type="presParOf" srcId="{20791189-862F-4D51-A82C-33B6B6EDE0BA}" destId="{DD7EC7EC-D410-433F-B667-2FAF6B59F8BE}" srcOrd="0" destOrd="0" presId="urn:microsoft.com/office/officeart/2005/8/layout/hierarchy5"/>
    <dgm:cxn modelId="{1201F5CB-AA3B-4A5C-97B2-08994C2A56B0}" type="presParOf" srcId="{20791189-862F-4D51-A82C-33B6B6EDE0BA}" destId="{79319165-508D-430D-8C4B-F8DB0AE11B50}" srcOrd="1" destOrd="0" presId="urn:microsoft.com/office/officeart/2005/8/layout/hierarchy5"/>
    <dgm:cxn modelId="{0AB03806-2549-4BF8-A194-3E489F925AB6}" type="presParOf" srcId="{79319165-508D-430D-8C4B-F8DB0AE11B50}" destId="{3EF8A797-2CE5-4530-9D69-C449BB032A1F}" srcOrd="0" destOrd="0" presId="urn:microsoft.com/office/officeart/2005/8/layout/hierarchy5"/>
    <dgm:cxn modelId="{AC560D8A-E253-44C2-9017-C3C7A3289E28}" type="presParOf" srcId="{3EF8A797-2CE5-4530-9D69-C449BB032A1F}" destId="{49610F4E-07BA-4940-BBDB-2E11AF2BEFC5}" srcOrd="0" destOrd="0" presId="urn:microsoft.com/office/officeart/2005/8/layout/hierarchy5"/>
    <dgm:cxn modelId="{77DBBD8B-6589-4957-A7F2-93F37B7B858C}" type="presParOf" srcId="{3EF8A797-2CE5-4530-9D69-C449BB032A1F}" destId="{6C650FAF-BB3C-4E17-B512-8262B6D1C6E6}" srcOrd="1" destOrd="0" presId="urn:microsoft.com/office/officeart/2005/8/layout/hierarchy5"/>
    <dgm:cxn modelId="{2556AEC2-8C84-4E34-BDBD-A082BD72D467}" type="presParOf" srcId="{6C650FAF-BB3C-4E17-B512-8262B6D1C6E6}" destId="{99C9FF49-E88B-460D-A53B-465AA4B89430}" srcOrd="0" destOrd="0" presId="urn:microsoft.com/office/officeart/2005/8/layout/hierarchy5"/>
    <dgm:cxn modelId="{DD8601AA-2B40-445D-A839-50014774E02B}" type="presParOf" srcId="{99C9FF49-E88B-460D-A53B-465AA4B89430}" destId="{EA2D88AA-A0B4-494C-B06E-76C310F8B6F8}" srcOrd="0" destOrd="0" presId="urn:microsoft.com/office/officeart/2005/8/layout/hierarchy5"/>
    <dgm:cxn modelId="{8DEABB43-926D-4CEF-ABD3-F46794BDB280}" type="presParOf" srcId="{6C650FAF-BB3C-4E17-B512-8262B6D1C6E6}" destId="{ABBC6CF5-CA91-484F-B57C-69405C6B55C2}" srcOrd="1" destOrd="0" presId="urn:microsoft.com/office/officeart/2005/8/layout/hierarchy5"/>
    <dgm:cxn modelId="{7D23AA41-5FD6-410B-9B3C-4F063E5C44CF}" type="presParOf" srcId="{ABBC6CF5-CA91-484F-B57C-69405C6B55C2}" destId="{B2D07966-20B6-4B40-8A65-556C855EC923}" srcOrd="0" destOrd="0" presId="urn:microsoft.com/office/officeart/2005/8/layout/hierarchy5"/>
    <dgm:cxn modelId="{6C54BE1A-3814-441D-8C98-CF870D95E5B9}" type="presParOf" srcId="{ABBC6CF5-CA91-484F-B57C-69405C6B55C2}" destId="{F0FD1646-868A-4075-956D-CD22B8D27FE7}" srcOrd="1" destOrd="0" presId="urn:microsoft.com/office/officeart/2005/8/layout/hierarchy5"/>
    <dgm:cxn modelId="{768CE158-39BB-44B5-BBBB-B2782FA1DEE3}" type="presParOf" srcId="{F0FD1646-868A-4075-956D-CD22B8D27FE7}" destId="{A1A0201B-2BAB-4F96-A6C0-630FBD3D2BED}" srcOrd="0" destOrd="0" presId="urn:microsoft.com/office/officeart/2005/8/layout/hierarchy5"/>
    <dgm:cxn modelId="{915C08DC-B87D-4FC3-B855-60AA66959682}" type="presParOf" srcId="{A1A0201B-2BAB-4F96-A6C0-630FBD3D2BED}" destId="{887C9F22-3B2F-4176-898A-82DD73AF2F5F}" srcOrd="0" destOrd="0" presId="urn:microsoft.com/office/officeart/2005/8/layout/hierarchy5"/>
    <dgm:cxn modelId="{B627DCC2-1AFC-4F00-A6A1-33DB0DFD5E6A}" type="presParOf" srcId="{F0FD1646-868A-4075-956D-CD22B8D27FE7}" destId="{EDC0ACAE-7B68-4AEE-8710-A6EC3EB9E1F9}" srcOrd="1" destOrd="0" presId="urn:microsoft.com/office/officeart/2005/8/layout/hierarchy5"/>
    <dgm:cxn modelId="{F7A91EEA-73B5-4648-B1C2-657D121A1C0A}" type="presParOf" srcId="{EDC0ACAE-7B68-4AEE-8710-A6EC3EB9E1F9}" destId="{0229854B-E60F-4214-AB00-FF4D7B7DC27D}" srcOrd="0" destOrd="0" presId="urn:microsoft.com/office/officeart/2005/8/layout/hierarchy5"/>
    <dgm:cxn modelId="{2899AADE-3A6D-47B6-9F7A-3EA9224071DF}" type="presParOf" srcId="{EDC0ACAE-7B68-4AEE-8710-A6EC3EB9E1F9}" destId="{12F9095F-F6DB-4817-90B7-658569D63403}" srcOrd="1" destOrd="0" presId="urn:microsoft.com/office/officeart/2005/8/layout/hierarchy5"/>
    <dgm:cxn modelId="{08CB6AA7-452F-4E6C-9F52-D4C75C158916}" type="presParOf" srcId="{F0FD1646-868A-4075-956D-CD22B8D27FE7}" destId="{F0A14C54-94CC-4BE6-9C95-BCF2CF85DF8D}" srcOrd="2" destOrd="0" presId="urn:microsoft.com/office/officeart/2005/8/layout/hierarchy5"/>
    <dgm:cxn modelId="{765BD3F3-7681-4FFE-9F6F-53ABE9F4CDD4}" type="presParOf" srcId="{F0A14C54-94CC-4BE6-9C95-BCF2CF85DF8D}" destId="{8053BF5D-5AA7-4C73-8C41-5FC2DF964401}" srcOrd="0" destOrd="0" presId="urn:microsoft.com/office/officeart/2005/8/layout/hierarchy5"/>
    <dgm:cxn modelId="{6C1464AC-19A0-4857-851E-6202161F6B1B}" type="presParOf" srcId="{F0FD1646-868A-4075-956D-CD22B8D27FE7}" destId="{DAF1BF8E-94CC-4404-A7BF-F60AD99A7013}" srcOrd="3" destOrd="0" presId="urn:microsoft.com/office/officeart/2005/8/layout/hierarchy5"/>
    <dgm:cxn modelId="{E3C358AA-2FB8-457E-9453-4238C3759168}" type="presParOf" srcId="{DAF1BF8E-94CC-4404-A7BF-F60AD99A7013}" destId="{37B9E942-C36E-4E6B-AFAA-A909B04C6AD1}" srcOrd="0" destOrd="0" presId="urn:microsoft.com/office/officeart/2005/8/layout/hierarchy5"/>
    <dgm:cxn modelId="{C0903480-8511-4B5E-8BF6-C108AA37EF6E}" type="presParOf" srcId="{DAF1BF8E-94CC-4404-A7BF-F60AD99A7013}" destId="{1BF78A74-DF39-4F1C-8E1D-881F5F524CDC}" srcOrd="1" destOrd="0" presId="urn:microsoft.com/office/officeart/2005/8/layout/hierarchy5"/>
    <dgm:cxn modelId="{528D715F-3188-4464-9FB9-B8A1A8B5BB9C}" type="presParOf" srcId="{6C650FAF-BB3C-4E17-B512-8262B6D1C6E6}" destId="{F11C62BF-5F79-4106-A118-E3D9737ECC21}" srcOrd="2" destOrd="0" presId="urn:microsoft.com/office/officeart/2005/8/layout/hierarchy5"/>
    <dgm:cxn modelId="{836BB8A0-3CC6-48FD-A981-F0919729B687}" type="presParOf" srcId="{F11C62BF-5F79-4106-A118-E3D9737ECC21}" destId="{AB0562EE-E339-4F4D-BE2A-72967BDB5E25}" srcOrd="0" destOrd="0" presId="urn:microsoft.com/office/officeart/2005/8/layout/hierarchy5"/>
    <dgm:cxn modelId="{75B472CA-4BB1-4424-8351-0B14E90D2A36}" type="presParOf" srcId="{6C650FAF-BB3C-4E17-B512-8262B6D1C6E6}" destId="{AE93FE1C-806B-4F1D-945E-CCB56F395B62}" srcOrd="3" destOrd="0" presId="urn:microsoft.com/office/officeart/2005/8/layout/hierarchy5"/>
    <dgm:cxn modelId="{0B05BC6B-03EC-4EA5-A430-400142D99741}" type="presParOf" srcId="{AE93FE1C-806B-4F1D-945E-CCB56F395B62}" destId="{5FCBA445-8F50-4EC5-81E1-3F095A9381E7}" srcOrd="0" destOrd="0" presId="urn:microsoft.com/office/officeart/2005/8/layout/hierarchy5"/>
    <dgm:cxn modelId="{D542A316-E5FF-423B-B932-22AE8C6BB3FF}" type="presParOf" srcId="{AE93FE1C-806B-4F1D-945E-CCB56F395B62}" destId="{632DA451-0E7E-45CD-B55E-063602413295}" srcOrd="1" destOrd="0" presId="urn:microsoft.com/office/officeart/2005/8/layout/hierarchy5"/>
    <dgm:cxn modelId="{4C7C9384-21A3-48EF-9F39-EE3C561D4C42}" type="presParOf" srcId="{632DA451-0E7E-45CD-B55E-063602413295}" destId="{54299331-0F7E-4421-86EB-F165B5255043}" srcOrd="0" destOrd="0" presId="urn:microsoft.com/office/officeart/2005/8/layout/hierarchy5"/>
    <dgm:cxn modelId="{2D58D0AA-329E-4AB8-8434-1604F8576860}" type="presParOf" srcId="{54299331-0F7E-4421-86EB-F165B5255043}" destId="{5FFB6194-C4EB-4731-B49B-85F8A9B1EDA2}" srcOrd="0" destOrd="0" presId="urn:microsoft.com/office/officeart/2005/8/layout/hierarchy5"/>
    <dgm:cxn modelId="{ECE8253C-ADD5-4417-AB9B-87D3C0E87C65}" type="presParOf" srcId="{632DA451-0E7E-45CD-B55E-063602413295}" destId="{C6121424-2DDB-4061-9903-10A1DA0A711A}" srcOrd="1" destOrd="0" presId="urn:microsoft.com/office/officeart/2005/8/layout/hierarchy5"/>
    <dgm:cxn modelId="{A05C2833-11B8-4A36-91D8-7A41798FFD1D}" type="presParOf" srcId="{C6121424-2DDB-4061-9903-10A1DA0A711A}" destId="{B095683F-763A-4DA4-9061-ED6EA8386CEB}" srcOrd="0" destOrd="0" presId="urn:microsoft.com/office/officeart/2005/8/layout/hierarchy5"/>
    <dgm:cxn modelId="{636D1BF2-FF28-4EDD-911C-07C85EA20BF4}" type="presParOf" srcId="{C6121424-2DDB-4061-9903-10A1DA0A711A}" destId="{74F7DDC3-6FFA-4507-BB53-F70803A46529}" srcOrd="1" destOrd="0" presId="urn:microsoft.com/office/officeart/2005/8/layout/hierarchy5"/>
    <dgm:cxn modelId="{66BF6EDC-9F00-4A69-8D3C-2D7B77D0D1AE}" type="presParOf" srcId="{6E7F9489-122C-4CD7-BAB8-0D6C2C50FC98}" destId="{8D92520F-49C3-4145-A8F2-D2951669D452}" srcOrd="1" destOrd="0" presId="urn:microsoft.com/office/officeart/2005/8/layout/hierarchy5"/>
    <dgm:cxn modelId="{A5ECDB44-B3EA-4AB8-9443-C367388D686A}" type="presParOf" srcId="{8D92520F-49C3-4145-A8F2-D2951669D452}" destId="{CFA55D4A-C0B0-44DB-948E-67453EA46D7B}" srcOrd="0" destOrd="0" presId="urn:microsoft.com/office/officeart/2005/8/layout/hierarchy5"/>
    <dgm:cxn modelId="{FF2D2D5B-8C52-4EE5-8F76-29C82A61CECB}" type="presParOf" srcId="{CFA55D4A-C0B0-44DB-948E-67453EA46D7B}" destId="{DB6D3D4B-1E54-4740-A569-CD3A7E1C9DBE}" srcOrd="0" destOrd="0" presId="urn:microsoft.com/office/officeart/2005/8/layout/hierarchy5"/>
    <dgm:cxn modelId="{D5572B89-44D2-4643-944E-2590F347FF4F}" type="presParOf" srcId="{CFA55D4A-C0B0-44DB-948E-67453EA46D7B}" destId="{BD61B98A-361C-4DCC-99E4-3AE6AC3218EB}" srcOrd="1" destOrd="0" presId="urn:microsoft.com/office/officeart/2005/8/layout/hierarchy5"/>
    <dgm:cxn modelId="{9A77B149-0113-438D-B74A-D28B9CCB5F17}" type="presParOf" srcId="{8D92520F-49C3-4145-A8F2-D2951669D452}" destId="{26555265-7071-4462-AC39-BF028DAE5899}" srcOrd="1" destOrd="0" presId="urn:microsoft.com/office/officeart/2005/8/layout/hierarchy5"/>
    <dgm:cxn modelId="{913EB11D-5F2F-49B8-B5A3-41E270251F0A}" type="presParOf" srcId="{26555265-7071-4462-AC39-BF028DAE5899}" destId="{6DB804DC-02E6-4169-999F-AF338A7996CC}" srcOrd="0" destOrd="0" presId="urn:microsoft.com/office/officeart/2005/8/layout/hierarchy5"/>
    <dgm:cxn modelId="{962E3A23-02EB-477A-BF76-A29A0BF66962}" type="presParOf" srcId="{8D92520F-49C3-4145-A8F2-D2951669D452}" destId="{DF5048D5-4E6A-4091-96B9-D750E9280CC3}" srcOrd="2" destOrd="0" presId="urn:microsoft.com/office/officeart/2005/8/layout/hierarchy5"/>
    <dgm:cxn modelId="{D4334671-80D4-439F-82B8-97FAEF999BC5}" type="presParOf" srcId="{DF5048D5-4E6A-4091-96B9-D750E9280CC3}" destId="{C7FD4E8B-BC34-493F-8C39-4F8F962ECBA8}" srcOrd="0" destOrd="0" presId="urn:microsoft.com/office/officeart/2005/8/layout/hierarchy5"/>
    <dgm:cxn modelId="{64889C92-D089-431A-B02E-0D980EF28055}" type="presParOf" srcId="{DF5048D5-4E6A-4091-96B9-D750E9280CC3}" destId="{775F0198-2C91-49C7-8380-8D1F5011F5B5}" srcOrd="1" destOrd="0" presId="urn:microsoft.com/office/officeart/2005/8/layout/hierarchy5"/>
    <dgm:cxn modelId="{858D6010-7653-4E2F-9977-AACDC78C6FAC}" type="presParOf" srcId="{8D92520F-49C3-4145-A8F2-D2951669D452}" destId="{62A01501-1B83-454F-904C-896383E632D0}" srcOrd="3" destOrd="0" presId="urn:microsoft.com/office/officeart/2005/8/layout/hierarchy5"/>
    <dgm:cxn modelId="{16535258-D643-46C5-9E2C-EC2ACDEEFCCA}" type="presParOf" srcId="{62A01501-1B83-454F-904C-896383E632D0}" destId="{F7C0E644-565B-4651-A260-E7A9614316B3}" srcOrd="0" destOrd="0" presId="urn:microsoft.com/office/officeart/2005/8/layout/hierarchy5"/>
    <dgm:cxn modelId="{AA8BEFF8-D6B6-4F33-88D4-CC9A796D9C47}" type="presParOf" srcId="{8D92520F-49C3-4145-A8F2-D2951669D452}" destId="{487AFC9B-9514-4CCA-812F-49BE5AEEDCF9}" srcOrd="4" destOrd="0" presId="urn:microsoft.com/office/officeart/2005/8/layout/hierarchy5"/>
    <dgm:cxn modelId="{85ED887E-5E63-4ADD-BAE7-16E716305CB4}" type="presParOf" srcId="{487AFC9B-9514-4CCA-812F-49BE5AEEDCF9}" destId="{9FE8C2E4-DE8E-48DB-831C-A76987CDB44B}" srcOrd="0" destOrd="0" presId="urn:microsoft.com/office/officeart/2005/8/layout/hierarchy5"/>
    <dgm:cxn modelId="{AAD9D6AB-187D-42AD-BC68-163E94742210}" type="presParOf" srcId="{487AFC9B-9514-4CCA-812F-49BE5AEEDCF9}" destId="{50134DED-B105-42EB-9D1F-C117F348E91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UNIX operating system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File system structure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File management 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Basic commands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larisams</a:t>
          </a:r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micm</a:t>
          </a:r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ciz20</a:t>
          </a:r>
          <a:endParaRPr lang="en-US" sz="1200" kern="1200" dirty="0"/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micm</a:t>
          </a:r>
          <a:endParaRPr lang="en-US" sz="1200" kern="1200" dirty="0"/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Pipes and redirects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Variables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Pattern matching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Text processing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7919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650442" y="521892"/>
          <a:ext cx="3033835" cy="9372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Shell scripting</a:t>
          </a:r>
        </a:p>
      </dsp:txBody>
      <dsp:txXfrm>
        <a:off x="650442" y="521892"/>
        <a:ext cx="3033835" cy="937236"/>
      </dsp:txXfrm>
    </dsp:sp>
    <dsp:sp modelId="{06897AB5-69C6-7F4E-8CFB-9574AE469F99}">
      <dsp:nvSpPr>
        <dsp:cNvPr id="0" name=""/>
        <dsp:cNvSpPr/>
      </dsp:nvSpPr>
      <dsp:spPr>
        <a:xfrm>
          <a:off x="64669" y="40473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91127" y="1927748"/>
          <a:ext cx="2693149" cy="9372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 structures</a:t>
          </a:r>
        </a:p>
      </dsp:txBody>
      <dsp:txXfrm>
        <a:off x="991127" y="1927748"/>
        <a:ext cx="2693149" cy="937236"/>
      </dsp:txXfrm>
    </dsp:sp>
    <dsp:sp modelId="{A2612371-1D8E-AB4E-B2EB-6256B4F36196}">
      <dsp:nvSpPr>
        <dsp:cNvPr id="0" name=""/>
        <dsp:cNvSpPr/>
      </dsp:nvSpPr>
      <dsp:spPr>
        <a:xfrm>
          <a:off x="405354" y="1810593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650442" y="3333603"/>
          <a:ext cx="3033835" cy="9372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HPC</a:t>
          </a:r>
        </a:p>
      </dsp:txBody>
      <dsp:txXfrm>
        <a:off x="650442" y="3333603"/>
        <a:ext cx="3033835" cy="937236"/>
      </dsp:txXfrm>
    </dsp:sp>
    <dsp:sp modelId="{BD933512-8AC2-D244-B16B-5BECDD7C138B}">
      <dsp:nvSpPr>
        <dsp:cNvPr id="0" name=""/>
        <dsp:cNvSpPr/>
      </dsp:nvSpPr>
      <dsp:spPr>
        <a:xfrm>
          <a:off x="64669" y="321644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8C2E4-DE8E-48DB-831C-A76987CDB44B}">
      <dsp:nvSpPr>
        <dsp:cNvPr id="0" name=""/>
        <dsp:cNvSpPr/>
      </dsp:nvSpPr>
      <dsp:spPr>
        <a:xfrm>
          <a:off x="5335438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Storage types</a:t>
          </a:r>
          <a:endParaRPr lang="en-CA" sz="2300" kern="1200" dirty="0"/>
        </a:p>
      </dsp:txBody>
      <dsp:txXfrm>
        <a:off x="5335438" y="0"/>
        <a:ext cx="2088132" cy="1305401"/>
      </dsp:txXfrm>
    </dsp:sp>
    <dsp:sp modelId="{C7FD4E8B-BC34-493F-8C39-4F8F962ECBA8}">
      <dsp:nvSpPr>
        <dsp:cNvPr id="0" name=""/>
        <dsp:cNvSpPr/>
      </dsp:nvSpPr>
      <dsp:spPr>
        <a:xfrm>
          <a:off x="2899283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Login node (</a:t>
          </a:r>
          <a:r>
            <a:rPr lang="en-US" sz="2300" kern="1200" dirty="0" err="1"/>
            <a:t>Headnode</a:t>
          </a:r>
          <a:r>
            <a:rPr lang="en-US" sz="2300" kern="1200" dirty="0"/>
            <a:t>)</a:t>
          </a:r>
          <a:endParaRPr lang="en-CA" sz="2300" kern="1200" dirty="0"/>
        </a:p>
      </dsp:txBody>
      <dsp:txXfrm>
        <a:off x="2899283" y="0"/>
        <a:ext cx="2088132" cy="1305401"/>
      </dsp:txXfrm>
    </dsp:sp>
    <dsp:sp modelId="{DB6D3D4B-1E54-4740-A569-CD3A7E1C9DBE}">
      <dsp:nvSpPr>
        <dsp:cNvPr id="0" name=""/>
        <dsp:cNvSpPr/>
      </dsp:nvSpPr>
      <dsp:spPr>
        <a:xfrm>
          <a:off x="463129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 side</a:t>
          </a:r>
          <a:endParaRPr lang="en-CA" sz="2300" kern="1200" dirty="0"/>
        </a:p>
      </dsp:txBody>
      <dsp:txXfrm>
        <a:off x="463129" y="0"/>
        <a:ext cx="2088132" cy="1305401"/>
      </dsp:txXfrm>
    </dsp:sp>
    <dsp:sp modelId="{49610F4E-07BA-4940-BBDB-2E11AF2BEFC5}">
      <dsp:nvSpPr>
        <dsp:cNvPr id="0" name=""/>
        <dsp:cNvSpPr/>
      </dsp:nvSpPr>
      <dsp:spPr>
        <a:xfrm>
          <a:off x="637140" y="2556456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Your own machine - SSH</a:t>
          </a:r>
          <a:endParaRPr lang="en-CA" sz="1800" kern="1200" dirty="0"/>
        </a:p>
      </dsp:txBody>
      <dsp:txXfrm>
        <a:off x="662623" y="2581939"/>
        <a:ext cx="1689144" cy="819089"/>
      </dsp:txXfrm>
    </dsp:sp>
    <dsp:sp modelId="{99C9FF49-E88B-460D-A53B-465AA4B89430}">
      <dsp:nvSpPr>
        <dsp:cNvPr id="0" name=""/>
        <dsp:cNvSpPr/>
      </dsp:nvSpPr>
      <dsp:spPr>
        <a:xfrm rot="18770822">
          <a:off x="2213508" y="2598276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2590684"/>
        <a:ext cx="51176" cy="51176"/>
      </dsp:txXfrm>
    </dsp:sp>
    <dsp:sp modelId="{B2D07966-20B6-4B40-8A65-556C855EC923}">
      <dsp:nvSpPr>
        <dsp:cNvPr id="0" name=""/>
        <dsp:cNvSpPr/>
      </dsp:nvSpPr>
      <dsp:spPr>
        <a:xfrm>
          <a:off x="3073294" y="1806033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Long term Storage purposes</a:t>
          </a:r>
          <a:endParaRPr lang="en-CA" sz="1800" kern="1200" dirty="0"/>
        </a:p>
      </dsp:txBody>
      <dsp:txXfrm>
        <a:off x="3098777" y="1831516"/>
        <a:ext cx="1689144" cy="819089"/>
      </dsp:txXfrm>
    </dsp:sp>
    <dsp:sp modelId="{A1A0201B-2BAB-4F96-A6C0-630FBD3D2BED}">
      <dsp:nvSpPr>
        <dsp:cNvPr id="0" name=""/>
        <dsp:cNvSpPr/>
      </dsp:nvSpPr>
      <dsp:spPr>
        <a:xfrm rot="19457599">
          <a:off x="4732836" y="1972924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1969490"/>
        <a:ext cx="42859" cy="42859"/>
      </dsp:txXfrm>
    </dsp:sp>
    <dsp:sp modelId="{0229854B-E60F-4214-AB00-FF4D7B7DC27D}">
      <dsp:nvSpPr>
        <dsp:cNvPr id="0" name=""/>
        <dsp:cNvSpPr/>
      </dsp:nvSpPr>
      <dsp:spPr>
        <a:xfrm>
          <a:off x="5509449" y="1305751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Nearline</a:t>
          </a:r>
          <a:endParaRPr lang="en-CA" sz="1800" kern="1200" dirty="0"/>
        </a:p>
      </dsp:txBody>
      <dsp:txXfrm>
        <a:off x="5534932" y="1331234"/>
        <a:ext cx="1689144" cy="819089"/>
      </dsp:txXfrm>
    </dsp:sp>
    <dsp:sp modelId="{F0A14C54-94CC-4BE6-9C95-BCF2CF85DF8D}">
      <dsp:nvSpPr>
        <dsp:cNvPr id="0" name=""/>
        <dsp:cNvSpPr/>
      </dsp:nvSpPr>
      <dsp:spPr>
        <a:xfrm rot="2142401">
          <a:off x="4732836" y="2473206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2469772"/>
        <a:ext cx="42859" cy="42859"/>
      </dsp:txXfrm>
    </dsp:sp>
    <dsp:sp modelId="{37B9E942-C36E-4E6B-AFAA-A909B04C6AD1}">
      <dsp:nvSpPr>
        <dsp:cNvPr id="0" name=""/>
        <dsp:cNvSpPr/>
      </dsp:nvSpPr>
      <dsp:spPr>
        <a:xfrm>
          <a:off x="5509449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Projects</a:t>
          </a:r>
          <a:endParaRPr lang="en-CA" sz="1800" kern="1200" dirty="0"/>
        </a:p>
      </dsp:txBody>
      <dsp:txXfrm>
        <a:off x="5534932" y="2331798"/>
        <a:ext cx="1689144" cy="819089"/>
      </dsp:txXfrm>
    </dsp:sp>
    <dsp:sp modelId="{F11C62BF-5F79-4106-A118-E3D9737ECC21}">
      <dsp:nvSpPr>
        <dsp:cNvPr id="0" name=""/>
        <dsp:cNvSpPr/>
      </dsp:nvSpPr>
      <dsp:spPr>
        <a:xfrm rot="2829178">
          <a:off x="2213508" y="3348699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3341106"/>
        <a:ext cx="51176" cy="51176"/>
      </dsp:txXfrm>
    </dsp:sp>
    <dsp:sp modelId="{5FCBA445-8F50-4EC5-81E1-3F095A9381E7}">
      <dsp:nvSpPr>
        <dsp:cNvPr id="0" name=""/>
        <dsp:cNvSpPr/>
      </dsp:nvSpPr>
      <dsp:spPr>
        <a:xfrm>
          <a:off x="3073294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Short term</a:t>
          </a:r>
          <a:endParaRPr lang="en-CA" sz="1800" kern="1200" dirty="0"/>
        </a:p>
      </dsp:txBody>
      <dsp:txXfrm>
        <a:off x="3098777" y="3332361"/>
        <a:ext cx="1689144" cy="819089"/>
      </dsp:txXfrm>
    </dsp:sp>
    <dsp:sp modelId="{54299331-0F7E-4421-86EB-F165B5255043}">
      <dsp:nvSpPr>
        <dsp:cNvPr id="0" name=""/>
        <dsp:cNvSpPr/>
      </dsp:nvSpPr>
      <dsp:spPr>
        <a:xfrm>
          <a:off x="4813405" y="3723910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44026" y="3724505"/>
        <a:ext cx="34802" cy="34802"/>
      </dsp:txXfrm>
    </dsp:sp>
    <dsp:sp modelId="{B095683F-763A-4DA4-9061-ED6EA8386CEB}">
      <dsp:nvSpPr>
        <dsp:cNvPr id="0" name=""/>
        <dsp:cNvSpPr/>
      </dsp:nvSpPr>
      <dsp:spPr>
        <a:xfrm>
          <a:off x="5509449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Scratch</a:t>
          </a:r>
          <a:endParaRPr lang="en-CA" sz="1800" kern="1200" dirty="0"/>
        </a:p>
      </dsp:txBody>
      <dsp:txXfrm>
        <a:off x="5534932" y="3332361"/>
        <a:ext cx="1689144" cy="819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0E883B-34CD-C662-4894-9F17ACB17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C337-8F20-DC0E-F086-75F80A1A91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4AA5-8A3E-4FDB-94BB-BF4B31CB4E38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2B551-A114-1711-7660-206556B02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60C49-B3C8-81BE-2872-8D4647B44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9F605-ADAB-47CB-BC74-76DC0A949A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5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er_multitasking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Operating_system" TargetMode="External"/><Relationship Id="rId4" Type="http://schemas.openxmlformats.org/officeDocument/2006/relationships/hyperlink" Target="https://en.wikipedia.org/wiki/Multi-user_softwar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Our organization aims to advance biomedical research at McGill University by providing workshops and bootcamps on a wide range of computational skills and tools. QLS-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cgillSans-Regular"/>
              </a:rPr>
              <a:t>MiCM</a:t>
            </a:r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 integrates clinical data with research in genomics, epidemiology, imaging, and other areas of biology. Our workshops are offered at various proficiency levels – from beginner to advanced – ensuring all researchers can benefit from our platform.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94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UNIX is a family of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Computer multitasking"/>
              </a:rPr>
              <a:t>multitasking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Multi-user software"/>
              </a:rPr>
              <a:t>multi-user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computer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Operating system"/>
              </a:rPr>
              <a:t>operating systems</a:t>
            </a:r>
            <a:endParaRPr lang="en-US" b="0" i="0" u="none" strike="noStrike" dirty="0"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Linux is an open-source reimplementation of the UNIX OS 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Ubuntu is a distribution (flavor) of Linux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EX: fedora (latest tech) and Mint (transitioners)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In-car systems use UNIX, android, smart TVs, medical equipment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29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Kernel (software) </a:t>
            </a:r>
            <a:r>
              <a:rPr lang="en-US" dirty="0">
                <a:sym typeface="Wingdings" panose="05000000000000000000" pitchFamily="2" charset="2"/>
              </a:rPr>
              <a:t> Responsible for managing the system and communication between software and hardware</a:t>
            </a:r>
          </a:p>
          <a:p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Shell  Intermediary 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573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computer process</a:t>
            </a:r>
            <a:r>
              <a:rPr lang="en-US" dirty="0"/>
              <a:t> is an instance of a computer program that is being executed by one or many threads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3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refers to the design philosophy behind an UNIX based system/OS</a:t>
            </a:r>
          </a:p>
          <a:p>
            <a:r>
              <a:rPr lang="en-US" dirty="0"/>
              <a:t>Directory </a:t>
            </a:r>
            <a:r>
              <a:rPr lang="en-US" dirty="0">
                <a:sym typeface="Wingdings" panose="05000000000000000000" pitchFamily="2" charset="2"/>
              </a:rPr>
              <a:t> Special files that contain lists of other files.</a:t>
            </a:r>
          </a:p>
          <a:p>
            <a:r>
              <a:rPr lang="en-US" dirty="0">
                <a:sym typeface="Wingdings" panose="05000000000000000000" pitchFamily="2" charset="2"/>
              </a:rPr>
              <a:t>Streamlined design and more efficient resource management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39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 </a:t>
            </a:r>
            <a:r>
              <a:rPr lang="en-US" dirty="0">
                <a:sym typeface="Wingdings" panose="05000000000000000000" pitchFamily="2" charset="2"/>
              </a:rPr>
              <a:t> essential User Binaries</a:t>
            </a:r>
          </a:p>
          <a:p>
            <a:r>
              <a:rPr lang="en-CA" dirty="0"/>
              <a:t>Dev </a:t>
            </a:r>
            <a:r>
              <a:rPr lang="en-CA" dirty="0">
                <a:sym typeface="Wingdings" panose="05000000000000000000" pitchFamily="2" charset="2"/>
              </a:rPr>
              <a:t> device files</a:t>
            </a:r>
          </a:p>
          <a:p>
            <a:r>
              <a:rPr lang="en-CA" dirty="0" err="1">
                <a:sym typeface="Wingdings" panose="05000000000000000000" pitchFamily="2" charset="2"/>
              </a:rPr>
              <a:t>Etc</a:t>
            </a:r>
            <a:r>
              <a:rPr lang="en-CA" dirty="0">
                <a:sym typeface="Wingdings" panose="05000000000000000000" pitchFamily="2" charset="2"/>
              </a:rPr>
              <a:t>  Configuration files</a:t>
            </a:r>
          </a:p>
          <a:p>
            <a:r>
              <a:rPr lang="en-CA" dirty="0" err="1"/>
              <a:t>Opt</a:t>
            </a:r>
            <a:r>
              <a:rPr lang="en-CA" dirty="0"/>
              <a:t> -&gt; optional software</a:t>
            </a:r>
          </a:p>
          <a:p>
            <a:r>
              <a:rPr lang="en-CA" dirty="0" err="1"/>
              <a:t>Sbin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 system admin binaries ex: shutdown and config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460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004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966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Read (r)</a:t>
            </a:r>
            <a:r>
              <a:rPr lang="en-US" dirty="0"/>
              <a:t> = 4 </a:t>
            </a:r>
            <a:r>
              <a:rPr lang="en-US" b="1" dirty="0"/>
              <a:t>Write (w)</a:t>
            </a:r>
            <a:r>
              <a:rPr lang="en-US" dirty="0"/>
              <a:t> = 2 </a:t>
            </a:r>
            <a:r>
              <a:rPr lang="en-US" b="1" dirty="0"/>
              <a:t>Execute (x)</a:t>
            </a:r>
            <a:r>
              <a:rPr lang="en-US" dirty="0"/>
              <a:t> = 1</a:t>
            </a:r>
          </a:p>
          <a:p>
            <a:r>
              <a:rPr lang="en-CA" dirty="0" err="1"/>
              <a:t>chmod</a:t>
            </a:r>
            <a:r>
              <a:rPr lang="en-CA" dirty="0"/>
              <a:t> </a:t>
            </a:r>
            <a:r>
              <a:rPr lang="en-CA" dirty="0" err="1"/>
              <a:t>go+w</a:t>
            </a:r>
            <a:r>
              <a:rPr lang="en-CA" dirty="0"/>
              <a:t> </a:t>
            </a:r>
            <a:endParaRPr lang="en-US" dirty="0"/>
          </a:p>
          <a:p>
            <a:r>
              <a:rPr lang="en-US" dirty="0"/>
              <a:t>Or</a:t>
            </a:r>
          </a:p>
          <a:p>
            <a:r>
              <a:rPr lang="en-CA" dirty="0" err="1"/>
              <a:t>chmod</a:t>
            </a:r>
            <a:r>
              <a:rPr lang="en-CA" dirty="0"/>
              <a:t> 644 test.txt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79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steep learning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46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523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68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106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.f2.txt is a hidden file so use ls -al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807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#4)Write the numbers from 1 to 10 in a1.txt (one number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"1\n2\n3\n4\n5\n6\n7\n8\n9\n10"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{1..10}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#5)Write the following sequence in .a2.txt (one letter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"a\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na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\n\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#6)List all the contents of the directory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-la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#7) Change the name of .f2.txt to f2.txt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#8) Change the permissions of 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chmod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go-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rwx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#9) Write the contents of f1.txt and f2.txt to a new file f3.txt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cat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f3.txt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22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602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local variables as well briefly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208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Substring extraction</a:t>
            </a:r>
          </a:p>
          <a:p>
            <a:r>
              <a:rPr lang="en-CA" dirty="0"/>
              <a:t>string="Hello, World!“ </a:t>
            </a:r>
          </a:p>
          <a:p>
            <a:r>
              <a:rPr lang="en-CA" dirty="0"/>
              <a:t>substring=${string:7}</a:t>
            </a:r>
          </a:p>
          <a:p>
            <a:r>
              <a:rPr lang="en-CA" dirty="0"/>
              <a:t>echo "Substring: $substring“</a:t>
            </a:r>
          </a:p>
          <a:p>
            <a:endParaRPr lang="en-CA" dirty="0"/>
          </a:p>
          <a:p>
            <a:r>
              <a:rPr lang="en-CA" dirty="0"/>
              <a:t>Suffix removal</a:t>
            </a:r>
          </a:p>
          <a:p>
            <a:r>
              <a:rPr lang="en-CA" dirty="0" err="1"/>
              <a:t>url</a:t>
            </a:r>
            <a:r>
              <a:rPr lang="en-CA" dirty="0"/>
              <a:t>="http://example.com/index.html“</a:t>
            </a:r>
          </a:p>
          <a:p>
            <a:r>
              <a:rPr lang="en-CA" dirty="0" err="1"/>
              <a:t>baseurl</a:t>
            </a:r>
            <a:r>
              <a:rPr lang="en-CA" dirty="0"/>
              <a:t>=${url%.html}</a:t>
            </a:r>
          </a:p>
          <a:p>
            <a:r>
              <a:rPr lang="en-CA" dirty="0"/>
              <a:t>echo "Base URL: $</a:t>
            </a:r>
            <a:r>
              <a:rPr lang="en-CA" dirty="0" err="1"/>
              <a:t>baseurl</a:t>
            </a:r>
            <a:r>
              <a:rPr lang="en-CA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82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string="Hello, World!“</a:t>
            </a:r>
          </a:p>
          <a:p>
            <a:r>
              <a:rPr lang="en-US" dirty="0" err="1"/>
              <a:t>new_string</a:t>
            </a:r>
            <a:r>
              <a:rPr lang="en-US" dirty="0"/>
              <a:t>=${string/World/Bash}</a:t>
            </a:r>
            <a:endParaRPr lang="en-CA" dirty="0"/>
          </a:p>
          <a:p>
            <a:r>
              <a:rPr lang="en-US" dirty="0"/>
              <a:t>echo "Modified string: $</a:t>
            </a:r>
            <a:r>
              <a:rPr lang="en-US" dirty="0" err="1"/>
              <a:t>new_string</a:t>
            </a:r>
            <a:r>
              <a:rPr lang="en-US" dirty="0"/>
              <a:t>"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262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2899-229C-DCC2-EE9E-71AB994E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0960C-5A70-2C7E-27B0-386D13940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60BA-BCBC-9ACF-A8CC-444CEE526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341C-9DB6-D670-E713-08A6F11B1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145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especially useful for handling columnar data and performing tasks like pattern matching, text extraction, and data manipulation.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46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697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529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638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814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90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 Tests to proceed with loops and such </a:t>
            </a:r>
            <a:r>
              <a:rPr lang="en-US" dirty="0">
                <a:sym typeface="Wingdings" panose="05000000000000000000" pitchFamily="2" charset="2"/>
              </a:rPr>
              <a:t> conditions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79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023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03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6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9" r:id="rId8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LS-MiCM/Intro-to-UNIX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nIBu1EFYmBU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.telecom-paristech.fr/eagan/class/igr204/dataset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UNIX%20cheatshe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82090"/>
            <a:ext cx="5172904" cy="1703583"/>
          </a:xfrm>
        </p:spPr>
        <p:txBody>
          <a:bodyPr>
            <a:normAutofit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Intro to Unix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250705"/>
            <a:ext cx="397303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Workshop Lead: Shucheng (Bangli) Cao</a:t>
            </a:r>
            <a:br>
              <a:rPr lang="en-CA" sz="1400" dirty="0">
                <a:latin typeface="Helvetica Light"/>
              </a:rPr>
            </a:br>
            <a:r>
              <a:rPr lang="en-CA" sz="1400" dirty="0">
                <a:latin typeface="Helvetica Light"/>
              </a:rPr>
              <a:t>Workshop Facilitator: Benjamin Kaufman</a:t>
            </a:r>
            <a:br>
              <a:rPr lang="en-CA" sz="1400" dirty="0">
                <a:latin typeface="Helvetica Light"/>
              </a:rPr>
            </a:br>
            <a:r>
              <a:rPr lang="en-CA" sz="1400" dirty="0">
                <a:latin typeface="Helvetica Light"/>
              </a:rPr>
              <a:t>Slides source: Georgi Merhi - Edited by: Shucheng (Bangli) Cao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28694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Date: February 4</a:t>
            </a:r>
            <a:r>
              <a:rPr lang="en-CA" sz="1400" baseline="30000" dirty="0">
                <a:latin typeface="Helvetica Light"/>
              </a:rPr>
              <a:t>th</a:t>
            </a:r>
            <a:r>
              <a:rPr lang="en-CA" sz="1400" dirty="0">
                <a:latin typeface="Helvetica Light"/>
              </a:rPr>
              <a:t>, 2026</a:t>
            </a:r>
            <a:endParaRPr lang="en-CA" sz="1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680 </a:t>
            </a:r>
            <a:r>
              <a:rPr lang="en-US" altLang="zh-CN" sz="1800" dirty="0"/>
              <a:t>Rue Sherbrooke</a:t>
            </a:r>
            <a:r>
              <a:rPr lang="en-CA" sz="1800" dirty="0"/>
              <a:t>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/>
              <a:t>Scan the QR code to sign up </a:t>
            </a:r>
          </a:p>
          <a:p>
            <a:pPr algn="ctr"/>
            <a:r>
              <a:rPr lang="en-CA" sz="1800"/>
              <a:t>for our </a:t>
            </a:r>
            <a:r>
              <a:rPr lang="en-CA" sz="1800" b="1"/>
              <a:t>mailing list</a:t>
            </a:r>
            <a:endParaRPr lang="en-CA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398115" y="6254362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5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72818-3611-8941-CEDA-83D82BFF1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982" y="2855720"/>
            <a:ext cx="2404909" cy="20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674691" y="5723139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080B-52D5-FF23-C3AA-645939DF1D6E}"/>
              </a:ext>
            </a:extLst>
          </p:cNvPr>
          <p:cNvSpPr txBox="1"/>
          <p:nvPr/>
        </p:nvSpPr>
        <p:spPr>
          <a:xfrm>
            <a:off x="1674691" y="1303823"/>
            <a:ext cx="649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Winter 2026 Workshop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3B7E6-39CE-0C82-65A1-6B3AF89D5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15" y="2398413"/>
            <a:ext cx="6978770" cy="287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Outline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UNIX operating system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Filesystem structure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 management operations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Basic commands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2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Pipes and redirects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Variables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Pattern matching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Text processing</a:t>
            </a: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-446088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b="1">
                <a:latin typeface="Helvetica" pitchFamily="2" charset="0"/>
                <a:ea typeface="Arial" panose="020B0604020202020204" pitchFamily="34" charset="0"/>
                <a:cs typeface="Helvetica"/>
              </a:rPr>
              <a:t>Material:</a:t>
            </a:r>
            <a:endParaRPr lang="en-CA" sz="2000" b="1" dirty="0">
              <a:latin typeface="Helvetica"/>
              <a:ea typeface="Arial" panose="020B0604020202020204" pitchFamily="34" charset="0"/>
              <a:cs typeface="Helvetica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5998A-70A1-8C4E-E66C-3A62CB2D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1016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3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Shell scripting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Control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3879-211F-C3C9-2E11-730AFC9FCC2A}"/>
              </a:ext>
            </a:extLst>
          </p:cNvPr>
          <p:cNvSpPr txBox="1"/>
          <p:nvPr/>
        </p:nvSpPr>
        <p:spPr>
          <a:xfrm>
            <a:off x="2159977" y="5469077"/>
            <a:ext cx="60110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https://github.com/QLS-MiCM/Intro-to-UNIX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1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023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427E-4CD7-6641-8ABD-FDA8379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UNIX Operating system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C45BF4-6B73-8A3E-2C99-07B28BC20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36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3B59-9712-8447-B4C8-582E92AD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General purpose and interactive</a:t>
            </a:r>
          </a:p>
          <a:p>
            <a:r>
              <a:rPr lang="en-US" sz="1800" dirty="0"/>
              <a:t>Multiuser</a:t>
            </a:r>
          </a:p>
          <a:p>
            <a:r>
              <a:rPr lang="en-US" sz="1800" dirty="0"/>
              <a:t>Resource-efficient</a:t>
            </a:r>
          </a:p>
          <a:p>
            <a:r>
              <a:rPr lang="en-US" sz="1800" dirty="0"/>
              <a:t>Hierarchical file system</a:t>
            </a:r>
          </a:p>
          <a:p>
            <a:r>
              <a:rPr lang="en-US" sz="1800" dirty="0"/>
              <a:t>Compatibility (files, devices, processes)</a:t>
            </a:r>
          </a:p>
          <a:p>
            <a:r>
              <a:rPr lang="en-US" sz="1800" dirty="0"/>
              <a:t>Time 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902F5-8BCC-D309-A3BD-47151BFEF129}"/>
              </a:ext>
            </a:extLst>
          </p:cNvPr>
          <p:cNvSpPr txBox="1"/>
          <p:nvPr/>
        </p:nvSpPr>
        <p:spPr>
          <a:xfrm>
            <a:off x="5017477" y="3167390"/>
            <a:ext cx="713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Dennis Ritchie (standing) and Ken </a:t>
            </a:r>
            <a:r>
              <a:rPr lang="en-US" sz="1050" dirty="0">
                <a:solidFill>
                  <a:schemeClr val="bg1"/>
                </a:solidFill>
                <a:cs typeface="Bangla Sangam MN" panose="02000000000000000000" pitchFamily="2" charset="0"/>
              </a:rPr>
              <a:t>Thompson</a:t>
            </a:r>
            <a:r>
              <a:rPr lang="en-US" sz="1050" dirty="0">
                <a:solidFill>
                  <a:schemeClr val="bg1"/>
                </a:solidFill>
              </a:rPr>
              <a:t> (seating) at Bell Labs, 1960’s</a:t>
            </a:r>
          </a:p>
        </p:txBody>
      </p:sp>
    </p:spTree>
    <p:extLst>
      <p:ext uri="{BB962C8B-B14F-4D97-AF65-F5344CB8AC3E}">
        <p14:creationId xmlns:p14="http://schemas.microsoft.com/office/powerpoint/2010/main" val="83152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B852-193A-AF4A-9AC0-821F3183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924C-EC8A-804C-B316-00429AA70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kernel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The core of the operating system</a:t>
            </a:r>
          </a:p>
          <a:p>
            <a:r>
              <a:rPr lang="en-US" sz="2000" dirty="0"/>
              <a:t>Manages processes’ time, memory and resources </a:t>
            </a:r>
          </a:p>
          <a:p>
            <a:r>
              <a:rPr lang="en-US" sz="2000" dirty="0"/>
              <a:t>Handles file storage </a:t>
            </a:r>
          </a:p>
          <a:p>
            <a:r>
              <a:rPr lang="en-US" sz="2000" dirty="0"/>
              <a:t>Responds to system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26CA-F28F-6E48-AB68-8E66E384C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shell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Let’s the user communicate with the kernel</a:t>
            </a:r>
          </a:p>
          <a:p>
            <a:r>
              <a:rPr lang="en-US" sz="2000" dirty="0"/>
              <a:t> Command line interpreter (CLI)</a:t>
            </a:r>
          </a:p>
          <a:p>
            <a:r>
              <a:rPr lang="en-US" sz="2000" dirty="0"/>
              <a:t>Executes the instructions requested by the user (commands)</a:t>
            </a:r>
          </a:p>
        </p:txBody>
      </p:sp>
    </p:spTree>
    <p:extLst>
      <p:ext uri="{BB962C8B-B14F-4D97-AF65-F5344CB8AC3E}">
        <p14:creationId xmlns:p14="http://schemas.microsoft.com/office/powerpoint/2010/main" val="346152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951491"/>
          </a:xfrm>
        </p:spPr>
        <p:txBody>
          <a:bodyPr/>
          <a:lstStyle/>
          <a:p>
            <a:r>
              <a:rPr lang="en-US" dirty="0"/>
              <a:t>Files</a:t>
            </a:r>
          </a:p>
        </p:txBody>
      </p:sp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EACD713-2EC3-E245-A51D-142853BFB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947"/>
          <a:stretch/>
        </p:blipFill>
        <p:spPr>
          <a:xfrm>
            <a:off x="628650" y="1159399"/>
            <a:ext cx="7886700" cy="2597157"/>
          </a:xfrm>
        </p:spPr>
      </p:pic>
      <p:pic>
        <p:nvPicPr>
          <p:cNvPr id="4" name="Picture 3" descr="A picture containing calendar&#10;&#10;Description automatically generated">
            <a:extLst>
              <a:ext uri="{FF2B5EF4-FFF2-40B4-BE49-F238E27FC236}">
                <a16:creationId xmlns:a16="http://schemas.microsoft.com/office/drawing/2014/main" id="{3CC56814-EFCA-4E67-0CEA-5BD10F30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65"/>
          <a:stretch/>
        </p:blipFill>
        <p:spPr>
          <a:xfrm>
            <a:off x="628650" y="3867241"/>
            <a:ext cx="7886700" cy="23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5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E80A6-DDD4-8649-8BEE-BC8B2F37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488"/>
            <a:ext cx="7886700" cy="1325565"/>
          </a:xfrm>
        </p:spPr>
        <p:txBody>
          <a:bodyPr/>
          <a:lstStyle/>
          <a:p>
            <a:r>
              <a:rPr lang="en-US"/>
              <a:t>Processes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D071D3-6FE6-6C44-B553-FFE2A3F8CD02}"/>
              </a:ext>
            </a:extLst>
          </p:cNvPr>
          <p:cNvGrpSpPr>
            <a:grpSpLocks noChangeAspect="1"/>
          </p:cNvGrpSpPr>
          <p:nvPr/>
        </p:nvGrpSpPr>
        <p:grpSpPr>
          <a:xfrm>
            <a:off x="1447009" y="1274555"/>
            <a:ext cx="5995073" cy="2482405"/>
            <a:chOff x="759233" y="2058989"/>
            <a:chExt cx="7625532" cy="3157536"/>
          </a:xfrm>
        </p:grpSpPr>
        <p:pic>
          <p:nvPicPr>
            <p:cNvPr id="6" name="Picture 5" descr="Graphical user interface&#10;&#10;Description automatically generated with low confidence">
              <a:extLst>
                <a:ext uri="{FF2B5EF4-FFF2-40B4-BE49-F238E27FC236}">
                  <a16:creationId xmlns:a16="http://schemas.microsoft.com/office/drawing/2014/main" id="{F5F4B7B4-EF5F-1B4A-A12F-392DCA396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91" b="60086"/>
            <a:stretch/>
          </p:blipFill>
          <p:spPr>
            <a:xfrm>
              <a:off x="759234" y="2058989"/>
              <a:ext cx="7625531" cy="1852611"/>
            </a:xfrm>
            <a:prstGeom prst="rect">
              <a:avLst/>
            </a:prstGeom>
          </p:spPr>
        </p:pic>
        <p:pic>
          <p:nvPicPr>
            <p:cNvPr id="9" name="Picture 8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D7A7E658-2C1C-CD4E-A1D8-4D850EAB5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9233" y="3897726"/>
              <a:ext cx="7625532" cy="1318799"/>
            </a:xfrm>
            <a:prstGeom prst="rect">
              <a:avLst/>
            </a:prstGeom>
          </p:spPr>
        </p:pic>
      </p:grp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45DB7A9E-CC1E-D8A3-A607-ED3B4BCF32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79" b="41339"/>
          <a:stretch/>
        </p:blipFill>
        <p:spPr>
          <a:xfrm>
            <a:off x="1447009" y="4000714"/>
            <a:ext cx="5995073" cy="20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7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DA824A-C455-0668-5AA1-A6141D818E07}"/>
              </a:ext>
            </a:extLst>
          </p:cNvPr>
          <p:cNvSpPr txBox="1">
            <a:spLocks/>
          </p:cNvSpPr>
          <p:nvPr/>
        </p:nvSpPr>
        <p:spPr>
          <a:xfrm>
            <a:off x="1143000" y="2262869"/>
            <a:ext cx="6858000" cy="156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4200" dirty="0"/>
            </a:br>
            <a:r>
              <a:rPr lang="en-US" sz="4200" dirty="0"/>
              <a:t>Everything is a </a:t>
            </a:r>
            <a:r>
              <a:rPr lang="en-US" sz="4200" b="1" dirty="0"/>
              <a:t>file</a:t>
            </a:r>
            <a:r>
              <a:rPr lang="en-US" sz="4200" dirty="0"/>
              <a:t> or a </a:t>
            </a:r>
            <a:r>
              <a:rPr lang="en-US" sz="4200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11793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FBD810-5AAC-C446-A99E-02B3AF12E2FC}"/>
              </a:ext>
            </a:extLst>
          </p:cNvPr>
          <p:cNvGrpSpPr/>
          <p:nvPr/>
        </p:nvGrpSpPr>
        <p:grpSpPr>
          <a:xfrm>
            <a:off x="0" y="1462089"/>
            <a:ext cx="10064750" cy="4664078"/>
            <a:chOff x="0" y="1690689"/>
            <a:chExt cx="10064750" cy="4664078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BBCCC146-CA69-5347-B044-864E310AE341}"/>
                </a:ext>
              </a:extLst>
            </p:cNvPr>
            <p:cNvGraphicFramePr/>
            <p:nvPr/>
          </p:nvGraphicFramePr>
          <p:xfrm>
            <a:off x="0" y="1690689"/>
            <a:ext cx="10064750" cy="466407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29F23D-D224-BF43-A746-E6CD0077BC8E}"/>
                </a:ext>
              </a:extLst>
            </p:cNvPr>
            <p:cNvSpPr/>
            <p:nvPr/>
          </p:nvSpPr>
          <p:spPr>
            <a:xfrm>
              <a:off x="3657600" y="1690689"/>
              <a:ext cx="4857750" cy="38465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5942"/>
            <a:ext cx="7886700" cy="1603931"/>
          </a:xfrm>
        </p:spPr>
        <p:txBody>
          <a:bodyPr/>
          <a:lstStyle/>
          <a:p>
            <a:r>
              <a:rPr lang="en-US"/>
              <a:t>File system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126DA-27F2-3F40-A420-92EB632CAA59}"/>
              </a:ext>
            </a:extLst>
          </p:cNvPr>
          <p:cNvSpPr/>
          <p:nvPr/>
        </p:nvSpPr>
        <p:spPr>
          <a:xfrm>
            <a:off x="3733800" y="169989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Program binaries - commands’ executable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F377A-B846-8D40-8CCE-3F2A951C4FC8}"/>
              </a:ext>
            </a:extLst>
          </p:cNvPr>
          <p:cNvSpPr/>
          <p:nvPr/>
        </p:nvSpPr>
        <p:spPr>
          <a:xfrm>
            <a:off x="3733800" y="2193606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Special hardware device files - hard drive, speakers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06E87-12DB-AC4C-99C3-77E43619DDD4}"/>
              </a:ext>
            </a:extLst>
          </p:cNvPr>
          <p:cNvSpPr/>
          <p:nvPr/>
        </p:nvSpPr>
        <p:spPr>
          <a:xfrm>
            <a:off x="3733800" y="2700017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System configuration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90097C-2A67-7D42-97C8-AD1A3729865D}"/>
              </a:ext>
            </a:extLst>
          </p:cNvPr>
          <p:cNvSpPr/>
          <p:nvPr/>
        </p:nvSpPr>
        <p:spPr>
          <a:xfrm>
            <a:off x="3733800" y="3204068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Login folder - user specific files, directories and programs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53AB6-535A-DC43-AD88-868DCA30F8A3}"/>
              </a:ext>
            </a:extLst>
          </p:cNvPr>
          <p:cNvSpPr/>
          <p:nvPr/>
        </p:nvSpPr>
        <p:spPr>
          <a:xfrm>
            <a:off x="3733800" y="3709669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Libraries required by bin and sbin to boot the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32ADC-ACC9-A743-A591-0E8B0E41BD5A}"/>
              </a:ext>
            </a:extLst>
          </p:cNvPr>
          <p:cNvSpPr/>
          <p:nvPr/>
        </p:nvSpPr>
        <p:spPr>
          <a:xfrm>
            <a:off x="3735127" y="420397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Local user application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4BD223-2F12-494F-906F-C81086E1672E}"/>
              </a:ext>
            </a:extLst>
          </p:cNvPr>
          <p:cNvSpPr/>
          <p:nvPr/>
        </p:nvSpPr>
        <p:spPr>
          <a:xfrm>
            <a:off x="3733800" y="4708031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Executable programs (binaries) required to start the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ABF9BB-53EE-7149-B938-19E17290815C}"/>
              </a:ext>
            </a:extLst>
          </p:cNvPr>
          <p:cNvSpPr/>
          <p:nvPr/>
        </p:nvSpPr>
        <p:spPr>
          <a:xfrm>
            <a:off x="3733800" y="5199990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Temporary files which are automatically removed periodically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A5F66-C39D-804B-B062-7E8C773C7151}"/>
              </a:ext>
            </a:extLst>
          </p:cNvPr>
          <p:cNvSpPr/>
          <p:nvPr/>
        </p:nvSpPr>
        <p:spPr>
          <a:xfrm>
            <a:off x="3733800" y="5712712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User-specific system executable programs and data</a:t>
            </a:r>
          </a:p>
        </p:txBody>
      </p:sp>
    </p:spTree>
    <p:extLst>
      <p:ext uri="{BB962C8B-B14F-4D97-AF65-F5344CB8AC3E}">
        <p14:creationId xmlns:p14="http://schemas.microsoft.com/office/powerpoint/2010/main" val="162730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structure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BCCC146-CA69-5347-B044-864E310AE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5534186"/>
              </p:ext>
            </p:extLst>
          </p:nvPr>
        </p:nvGraphicFramePr>
        <p:xfrm>
          <a:off x="0" y="1690689"/>
          <a:ext cx="10064750" cy="4664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2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FB25-A842-A14F-8890-25B26ACD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55" y="59426"/>
            <a:ext cx="7886700" cy="818879"/>
          </a:xfrm>
        </p:spPr>
        <p:txBody>
          <a:bodyPr/>
          <a:lstStyle/>
          <a:p>
            <a:r>
              <a:rPr lang="en-US" dirty="0"/>
              <a:t>The terminal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CFC08-29DD-FE14-265C-1DCCF76F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305"/>
            <a:ext cx="9144000" cy="2716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195A94-A626-0186-EA10-F185A11BC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2224"/>
            <a:ext cx="9144000" cy="21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2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shortcuts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2183055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Ctrl+A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2183055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2183055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2183055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3197466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start of the 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3197466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end of the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3210166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 the current process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3210166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 a child process (less, more, etc) </a:t>
            </a:r>
          </a:p>
        </p:txBody>
      </p:sp>
    </p:spTree>
    <p:extLst>
      <p:ext uri="{BB962C8B-B14F-4D97-AF65-F5344CB8AC3E}">
        <p14:creationId xmlns:p14="http://schemas.microsoft.com/office/powerpoint/2010/main" val="41716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2489-F81E-8125-EE4C-46856859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6265-023E-0822-33BB-F93E8386E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23083"/>
          </a:xfrm>
        </p:spPr>
        <p:txBody>
          <a:bodyPr/>
          <a:lstStyle/>
          <a:p>
            <a:r>
              <a:rPr lang="en-US" dirty="0"/>
              <a:t>Programs built in the shell that perform specific actions</a:t>
            </a:r>
          </a:p>
        </p:txBody>
      </p:sp>
      <p:pic>
        <p:nvPicPr>
          <p:cNvPr id="5" name="Picture 4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753D7E08-ECA1-FD46-028B-5A61B0E6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06" y="2983644"/>
            <a:ext cx="7045036" cy="17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9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history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See active processes and the resources they’re using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manual page of a command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List your previous commands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Clear your terminal window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history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6619876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clear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ls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cd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htop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htop</a:t>
            </a:r>
          </a:p>
        </p:txBody>
      </p:sp>
    </p:spTree>
    <p:extLst>
      <p:ext uri="{BB962C8B-B14F-4D97-AF65-F5344CB8AC3E}">
        <p14:creationId xmlns:p14="http://schemas.microsoft.com/office/powerpoint/2010/main" val="1052507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whoami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pwd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Displays current user 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current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the current directory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pwd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whoami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C51019-37D5-1C68-C448-92771E9B9819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06223-018C-D0D1-65E7-490DB6894AE0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Access a directory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D73BFF-C0BD-D4C5-7A21-D8196A3ECF44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cd folder1</a:t>
            </a:r>
          </a:p>
        </p:txBody>
      </p:sp>
    </p:spTree>
    <p:extLst>
      <p:ext uri="{BB962C8B-B14F-4D97-AF65-F5344CB8AC3E}">
        <p14:creationId xmlns:p14="http://schemas.microsoft.com/office/powerpoint/2010/main" val="394874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characters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directory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Match any and all characters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directory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86A3941-4816-2402-D593-2ECDEFFA060D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*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95B015-2F7C-601E-4C82-7C978375442B}"/>
              </a:ext>
            </a:extLst>
          </p:cNvPr>
          <p:cNvSpPr/>
          <p:nvPr/>
        </p:nvSpPr>
        <p:spPr>
          <a:xfrm>
            <a:off x="27940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8B6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58B6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93AE46-3C85-2B20-CE89-A243F3B95E64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B0B15CF-6314-3112-F95C-C4EEBFAF3B91}"/>
              </a:ext>
            </a:extLst>
          </p:cNvPr>
          <p:cNvSpPr/>
          <p:nvPr/>
        </p:nvSpPr>
        <p:spPr>
          <a:xfrm>
            <a:off x="6619876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86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686868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 ~</a:t>
            </a:r>
          </a:p>
        </p:txBody>
      </p:sp>
    </p:spTree>
    <p:extLst>
      <p:ext uri="{BB962C8B-B14F-4D97-AF65-F5344CB8AC3E}">
        <p14:creationId xmlns:p14="http://schemas.microsoft.com/office/powerpoint/2010/main" val="3459797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permissions</a:t>
            </a:r>
          </a:p>
        </p:txBody>
      </p:sp>
      <p:pic>
        <p:nvPicPr>
          <p:cNvPr id="11266" name="Picture 2" descr="permissions diagram">
            <a:extLst>
              <a:ext uri="{FF2B5EF4-FFF2-40B4-BE49-F238E27FC236}">
                <a16:creationId xmlns:a16="http://schemas.microsoft.com/office/drawing/2014/main" id="{6E36ECAE-219A-5740-AC75-2C1190CFC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30" y="2688109"/>
            <a:ext cx="6007826" cy="351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3475F-2E2B-1648-BA6B-2086D9C14792}"/>
              </a:ext>
            </a:extLst>
          </p:cNvPr>
          <p:cNvSpPr/>
          <p:nvPr/>
        </p:nvSpPr>
        <p:spPr>
          <a:xfrm>
            <a:off x="0" y="6492874"/>
            <a:ext cx="32015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Adapted from https://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linuxcommand.org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/lc3_lts0090.php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41E6D-464D-A9BC-6AEE-D036BF8FEFB1}"/>
              </a:ext>
            </a:extLst>
          </p:cNvPr>
          <p:cNvSpPr/>
          <p:nvPr/>
        </p:nvSpPr>
        <p:spPr>
          <a:xfrm>
            <a:off x="1827983" y="1448968"/>
            <a:ext cx="697526" cy="239486"/>
          </a:xfrm>
          <a:prstGeom prst="rect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3E7F6-8097-4325-1745-084CD87A8358}"/>
              </a:ext>
            </a:extLst>
          </p:cNvPr>
          <p:cNvSpPr/>
          <p:nvPr/>
        </p:nvSpPr>
        <p:spPr>
          <a:xfrm>
            <a:off x="2525509" y="1757826"/>
            <a:ext cx="697525" cy="239486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Group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B14E8-7B4A-656A-0047-EC3A0F428176}"/>
              </a:ext>
            </a:extLst>
          </p:cNvPr>
          <p:cNvSpPr/>
          <p:nvPr/>
        </p:nvSpPr>
        <p:spPr>
          <a:xfrm>
            <a:off x="3201517" y="2081588"/>
            <a:ext cx="697524" cy="239486"/>
          </a:xfrm>
          <a:prstGeom prst="rect">
            <a:avLst/>
          </a:prstGeom>
          <a:solidFill>
            <a:srgbClr val="84AC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0D26-B955-F454-2671-41DF6A88FF72}"/>
              </a:ext>
            </a:extLst>
          </p:cNvPr>
          <p:cNvSpPr txBox="1"/>
          <p:nvPr/>
        </p:nvSpPr>
        <p:spPr>
          <a:xfrm>
            <a:off x="6269729" y="1410021"/>
            <a:ext cx="266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US" dirty="0"/>
              <a:t> - read</a:t>
            </a:r>
          </a:p>
          <a:p>
            <a:r>
              <a:rPr lang="en-US" b="1" dirty="0"/>
              <a:t>w </a:t>
            </a:r>
            <a:r>
              <a:rPr lang="en-US" dirty="0"/>
              <a:t>- write</a:t>
            </a:r>
          </a:p>
          <a:p>
            <a:r>
              <a:rPr lang="en-US" b="1" dirty="0"/>
              <a:t>x</a:t>
            </a:r>
            <a:r>
              <a:rPr lang="en-US" dirty="0"/>
              <a:t> - execute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14C51C-8D1C-B07E-98FF-0DEA1F7F5D4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76746" y="1688454"/>
            <a:ext cx="0" cy="999655"/>
          </a:xfrm>
          <a:prstGeom prst="straightConnector1">
            <a:avLst/>
          </a:prstGeom>
          <a:ln w="19050">
            <a:solidFill>
              <a:srgbClr val="69B0A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DA0B2C-DECA-98E1-9E09-2BC3BFF965B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874271" y="1997312"/>
            <a:ext cx="1" cy="690797"/>
          </a:xfrm>
          <a:prstGeom prst="straightConnector1">
            <a:avLst/>
          </a:prstGeom>
          <a:ln w="19050">
            <a:solidFill>
              <a:srgbClr val="686868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B41B5B-A3E9-91EF-F341-B492C2B043E5}"/>
              </a:ext>
            </a:extLst>
          </p:cNvPr>
          <p:cNvCxnSpPr>
            <a:cxnSpLocks/>
          </p:cNvCxnSpPr>
          <p:nvPr/>
        </p:nvCxnSpPr>
        <p:spPr>
          <a:xfrm>
            <a:off x="3547518" y="2272341"/>
            <a:ext cx="2761" cy="403491"/>
          </a:xfrm>
          <a:prstGeom prst="straightConnector1">
            <a:avLst/>
          </a:prstGeom>
          <a:ln w="19050">
            <a:solidFill>
              <a:srgbClr val="84ACB7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7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chmod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directory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Change file permissions</a:t>
            </a:r>
          </a:p>
          <a:p>
            <a:pPr algn="ctr"/>
            <a:endParaRPr lang="en-US" sz="1400" dirty="0"/>
          </a:p>
          <a:p>
            <a:pPr algn="ctr"/>
            <a:r>
              <a:rPr lang="en-US" sz="1100" dirty="0"/>
              <a:t>chmod </a:t>
            </a:r>
            <a:r>
              <a:rPr lang="en-US" sz="1100" b="1" dirty="0"/>
              <a:t>[ugo][+-][rwx]</a:t>
            </a:r>
          </a:p>
          <a:p>
            <a:pPr algn="ctr"/>
            <a:endParaRPr lang="en-US" sz="1100" b="1" dirty="0"/>
          </a:p>
          <a:p>
            <a:pPr algn="just"/>
            <a:r>
              <a:rPr lang="en-US" sz="1000" dirty="0"/>
              <a:t>u: user    +: grant     w: write</a:t>
            </a:r>
          </a:p>
          <a:p>
            <a:pPr algn="just"/>
            <a:r>
              <a:rPr lang="en-US" sz="1000" dirty="0"/>
              <a:t>g: group  -: revoke    r: read</a:t>
            </a:r>
          </a:p>
          <a:p>
            <a:pPr algn="just"/>
            <a:r>
              <a:rPr lang="en-US" sz="1000" dirty="0"/>
              <a:t>o: other                 x: execute     </a:t>
            </a:r>
          </a:p>
          <a:p>
            <a:pPr algn="ctr"/>
            <a:endParaRPr lang="en-US" sz="1100" b="1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o-w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touch f1.txt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F67D89-ED87-34B7-1445-27F889287FD1}"/>
              </a:ext>
            </a:extLst>
          </p:cNvPr>
          <p:cNvSpPr/>
          <p:nvPr/>
        </p:nvSpPr>
        <p:spPr>
          <a:xfrm>
            <a:off x="6713658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3E84F-E318-D67F-9E0F-5C18D2883354}"/>
              </a:ext>
            </a:extLst>
          </p:cNvPr>
          <p:cNvSpPr/>
          <p:nvPr/>
        </p:nvSpPr>
        <p:spPr>
          <a:xfrm>
            <a:off x="6713658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something to the terminal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185BAB-0FA2-19D8-A1A4-90BEDCBB88C0}"/>
              </a:ext>
            </a:extLst>
          </p:cNvPr>
          <p:cNvSpPr/>
          <p:nvPr/>
        </p:nvSpPr>
        <p:spPr>
          <a:xfrm>
            <a:off x="6713658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“hello world”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0B5F6F-1BA8-1C8F-82A5-A3E09A3E1330}"/>
              </a:ext>
            </a:extLst>
          </p:cNvPr>
          <p:cNvCxnSpPr/>
          <p:nvPr/>
        </p:nvCxnSpPr>
        <p:spPr>
          <a:xfrm flipV="1">
            <a:off x="2684585" y="5990492"/>
            <a:ext cx="457200" cy="4572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864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mv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zcat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Copy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Move a file or rename 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zipped file(s) to the terminal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file(s) to the terminal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zcat f1.txt.gz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cat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mv f1_copy.txt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cp f1.txt f1_copy.txt</a:t>
            </a:r>
          </a:p>
        </p:txBody>
      </p:sp>
    </p:spTree>
    <p:extLst>
      <p:ext uri="{BB962C8B-B14F-4D97-AF65-F5344CB8AC3E}">
        <p14:creationId xmlns:p14="http://schemas.microsoft.com/office/powerpoint/2010/main" val="136221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58" y="16203"/>
            <a:ext cx="7886700" cy="1325565"/>
          </a:xfrm>
        </p:spPr>
        <p:txBody>
          <a:bodyPr/>
          <a:lstStyle/>
          <a:p>
            <a:r>
              <a:rPr lang="en-US" dirty="0"/>
              <a:t>How to edit files in the terminal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10093" y="1264650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nano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691293" y="1264650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10093" y="2157874"/>
            <a:ext cx="1625600" cy="1161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plain text files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691293" y="2146857"/>
            <a:ext cx="1625600" cy="11618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code files/scripts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6912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100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nano f1.txt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EB260A3-9A36-21D7-4AD7-65AC5893D7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249"/>
          <a:stretch/>
        </p:blipFill>
        <p:spPr>
          <a:xfrm>
            <a:off x="6063857" y="1470637"/>
            <a:ext cx="2110809" cy="420293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1476BF-88FB-D685-AA7A-2CB01C224467}"/>
              </a:ext>
            </a:extLst>
          </p:cNvPr>
          <p:cNvSpPr/>
          <p:nvPr/>
        </p:nvSpPr>
        <p:spPr>
          <a:xfrm>
            <a:off x="3691293" y="4594326"/>
            <a:ext cx="1625600" cy="9617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Esc then hold </a:t>
            </a:r>
          </a:p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Shift+zz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1E8FA9-1B1C-3A7D-53C9-C5F6DDEE7D1E}"/>
              </a:ext>
            </a:extLst>
          </p:cNvPr>
          <p:cNvSpPr/>
          <p:nvPr/>
        </p:nvSpPr>
        <p:spPr>
          <a:xfrm>
            <a:off x="1737134" y="4583307"/>
            <a:ext cx="1625600" cy="9728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Ctrl+X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Y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46BB95-5AD9-8B06-24E6-3433521B89F3}"/>
              </a:ext>
            </a:extLst>
          </p:cNvPr>
          <p:cNvSpPr/>
          <p:nvPr/>
        </p:nvSpPr>
        <p:spPr>
          <a:xfrm>
            <a:off x="3691293" y="5666289"/>
            <a:ext cx="1625600" cy="4939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:xq then press 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20A1-E460-6598-F1A5-1CBB83EFE9D9}"/>
              </a:ext>
            </a:extLst>
          </p:cNvPr>
          <p:cNvSpPr txBox="1"/>
          <p:nvPr/>
        </p:nvSpPr>
        <p:spPr>
          <a:xfrm>
            <a:off x="192213" y="3628335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open the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3199-FD04-DD34-6AA8-11480CFC6497}"/>
              </a:ext>
            </a:extLst>
          </p:cNvPr>
          <p:cNvSpPr txBox="1"/>
          <p:nvPr/>
        </p:nvSpPr>
        <p:spPr>
          <a:xfrm>
            <a:off x="289953" y="5054102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close the file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8A29345-44AC-BB83-26CD-C9E2EEEE7EAB}"/>
              </a:ext>
            </a:extLst>
          </p:cNvPr>
          <p:cNvSpPr/>
          <p:nvPr/>
        </p:nvSpPr>
        <p:spPr>
          <a:xfrm>
            <a:off x="1198795" y="4594326"/>
            <a:ext cx="303730" cy="1565885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16818B4-3EBB-A489-EF69-6AE2C732B183}"/>
              </a:ext>
            </a:extLst>
          </p:cNvPr>
          <p:cNvSpPr/>
          <p:nvPr/>
        </p:nvSpPr>
        <p:spPr>
          <a:xfrm>
            <a:off x="1209331" y="3572108"/>
            <a:ext cx="271160" cy="882326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301B90-A615-BDBB-AE78-3FB5D35F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2574758"/>
            <a:ext cx="8710863" cy="246647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cd ~/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2400" dirty="0">
              <a:solidFill>
                <a:schemeClr val="accent1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mv ~/Downloads/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data/ho1</a:t>
            </a:r>
          </a:p>
          <a:p>
            <a:r>
              <a:rPr lang="en-US" sz="2400" b="1" i="0" dirty="0" err="1">
                <a:solidFill>
                  <a:srgbClr val="69B0A0"/>
                </a:solidFill>
                <a:effectLst/>
                <a:latin typeface="Menlo" panose="020B0609030804020204"/>
              </a:rPr>
              <a:t>scp</a:t>
            </a:r>
            <a:r>
              <a:rPr lang="en-US" sz="2400" b="1" i="0" dirty="0">
                <a:solidFill>
                  <a:srgbClr val="69B0A0"/>
                </a:solidFill>
                <a:effectLst/>
                <a:latin typeface="Menlo" panose="020B0609030804020204"/>
              </a:rPr>
              <a:t> [username]@[IP_address_of_the_server]:[path/of/files/on/server] [path/on/your/machine</a:t>
            </a:r>
            <a:r>
              <a:rPr lang="en-US" sz="2400" b="1" dirty="0">
                <a:solidFill>
                  <a:srgbClr val="69B0A0"/>
                </a:solidFill>
                <a:latin typeface="Menlo" panose="020B0609030804020204"/>
              </a:rPr>
              <a:t>]</a:t>
            </a:r>
            <a:endParaRPr lang="en-US" sz="2400" b="1" dirty="0">
              <a:solidFill>
                <a:srgbClr val="69B0A0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5D1B8F-8D97-09DD-E296-CCCB556A9DB4}"/>
              </a:ext>
            </a:extLst>
          </p:cNvPr>
          <p:cNvSpPr txBox="1">
            <a:spLocks/>
          </p:cNvSpPr>
          <p:nvPr/>
        </p:nvSpPr>
        <p:spPr>
          <a:xfrm>
            <a:off x="628650" y="2065111"/>
            <a:ext cx="78867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to download a file and use it 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1074365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gunzip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Decompress a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Bundle files with compression (optional)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tar –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cvzf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cars.tgz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f*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gunzip *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Removes file(s)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rm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50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first N lines of a file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last N lines of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words, characters lines or bytes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4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tail -3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-3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096E6-8BDB-0947-9966-68235CA960DC}"/>
              </a:ext>
            </a:extLst>
          </p:cNvPr>
          <p:cNvSpPr/>
          <p:nvPr/>
        </p:nvSpPr>
        <p:spPr>
          <a:xfrm>
            <a:off x="47281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75C3B5-3368-4445-932D-DFF969D1A152}"/>
              </a:ext>
            </a:extLst>
          </p:cNvPr>
          <p:cNvSpPr/>
          <p:nvPr/>
        </p:nvSpPr>
        <p:spPr>
          <a:xfrm>
            <a:off x="47281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contents of a file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63704B4-14F7-654F-850A-ECB0EBE6F52D}"/>
              </a:ext>
            </a:extLst>
          </p:cNvPr>
          <p:cNvSpPr/>
          <p:nvPr/>
        </p:nvSpPr>
        <p:spPr>
          <a:xfrm>
            <a:off x="47281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more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9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processing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sort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columns of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elements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set of uniq elements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sort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cut –f1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cars.csv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col1.tsv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paste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Paste two files column-wise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paste col1.t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sv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58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</a:t>
            </a:r>
          </a:p>
        </p:txBody>
      </p:sp>
    </p:spTree>
    <p:extLst>
      <p:ext uri="{BB962C8B-B14F-4D97-AF65-F5344CB8AC3E}">
        <p14:creationId xmlns:p14="http://schemas.microsoft.com/office/powerpoint/2010/main" val="126920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your own commands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787400" y="19684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~/.bash_profile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FB738F-2CEE-FD44-82C3-FAE4C0A62D84}"/>
              </a:ext>
            </a:extLst>
          </p:cNvPr>
          <p:cNvSpPr/>
          <p:nvPr/>
        </p:nvSpPr>
        <p:spPr>
          <a:xfrm>
            <a:off x="1612901" y="2806699"/>
            <a:ext cx="63246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ll=“ls –l”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552F07-068E-F446-9463-D5EF4B557A0D}"/>
              </a:ext>
            </a:extLst>
          </p:cNvPr>
          <p:cNvSpPr/>
          <p:nvPr/>
        </p:nvSpPr>
        <p:spPr>
          <a:xfrm>
            <a:off x="787399" y="36448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source ~/.bash_profile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766646F-C090-3F49-A9BF-68871A48B8EA}"/>
              </a:ext>
            </a:extLst>
          </p:cNvPr>
          <p:cNvSpPr/>
          <p:nvPr/>
        </p:nvSpPr>
        <p:spPr>
          <a:xfrm>
            <a:off x="787400" y="44830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ll</a:t>
            </a:r>
          </a:p>
        </p:txBody>
      </p:sp>
    </p:spTree>
    <p:extLst>
      <p:ext uri="{BB962C8B-B14F-4D97-AF65-F5344CB8AC3E}">
        <p14:creationId xmlns:p14="http://schemas.microsoft.com/office/powerpoint/2010/main" val="56235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rgbClr val="33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Hands on 1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DAFBE-43CD-A581-44A4-9A754460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5741"/>
            <a:ext cx="7886700" cy="4731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Print the current directory and user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 a directory named </a:t>
            </a:r>
            <a:r>
              <a:rPr lang="en-US" sz="2000" dirty="0" err="1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r>
              <a:rPr lang="en-US" sz="2000" dirty="0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</a:rPr>
              <a:t>in the home directory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data </a:t>
            </a:r>
            <a:r>
              <a:rPr lang="en-US" sz="2000" dirty="0">
                <a:latin typeface="Menlo" panose="020B0609030804020204"/>
              </a:rPr>
              <a:t>within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 </a:t>
            </a:r>
            <a:r>
              <a:rPr lang="en-US" sz="2000" dirty="0" err="1">
                <a:solidFill>
                  <a:srgbClr val="3394BA"/>
                </a:solidFill>
                <a:latin typeface="Menlo" panose="020B0609030804020204"/>
              </a:rPr>
              <a:t>intro_unix</a:t>
            </a:r>
            <a:endParaRPr lang="en-US" sz="2000" dirty="0">
              <a:solidFill>
                <a:srgbClr val="3394BA"/>
              </a:solidFill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sub-directories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ho1 ho2 and ho3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folder1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under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Go into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folder1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 and create two files: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numbers from 1 to 10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number per line)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following sequence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letter per line)</a:t>
            </a:r>
          </a:p>
          <a:p>
            <a:pPr lvl="1"/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a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d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endParaRPr lang="en-US" sz="2000" dirty="0">
              <a:latin typeface="Menlo" panose="020B0609030804020204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876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List all the contents of the directory (including .f2.txt) – hint: look at the manual of the  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ls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command</a:t>
            </a:r>
            <a:endParaRPr lang="en-US" sz="2000" b="1" dirty="0">
              <a:latin typeface="Menlo" panose="020B0609030804020204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name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permissions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so that only the user can read and write the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only the first 10 lines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all the lines in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a new file called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f3.txt </a:t>
            </a:r>
          </a:p>
          <a:p>
            <a:pPr marL="0" indent="0">
              <a:buNone/>
            </a:pPr>
            <a:r>
              <a:rPr lang="en-US" sz="2400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Bonus skill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0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Courier New" panose="02070309020205020404" pitchFamily="49" charset="0"/>
              </a:rPr>
              <a:t>List the unique set of countries included in the dataset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Find the number of unique car models </a:t>
            </a:r>
          </a:p>
          <a:p>
            <a:pPr marL="457200" lvl="1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35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2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5423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3FD3-B097-CD46-AD6D-D8DA7336DB12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1031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way to connect the end of something with the start of something else</a:t>
            </a:r>
          </a:p>
          <a:p>
            <a:r>
              <a:rPr lang="en-US" dirty="0"/>
              <a:t>They are specified with the control operator “ | ”</a:t>
            </a:r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98DFA0-8E37-204C-8575-3C024786B57A}"/>
              </a:ext>
            </a:extLst>
          </p:cNvPr>
          <p:cNvSpPr/>
          <p:nvPr/>
        </p:nvSpPr>
        <p:spPr>
          <a:xfrm>
            <a:off x="984250" y="4000501"/>
            <a:ext cx="7175500" cy="8747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cat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cars.tsv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| head -10</a:t>
            </a:r>
          </a:p>
        </p:txBody>
      </p:sp>
    </p:spTree>
    <p:extLst>
      <p:ext uri="{BB962C8B-B14F-4D97-AF65-F5344CB8AC3E}">
        <p14:creationId xmlns:p14="http://schemas.microsoft.com/office/powerpoint/2010/main" val="213776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Redirect output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65300" y="17160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746500" y="17160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5676902" y="17160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65300" y="27305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send the output of the command to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746500" y="27305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APPEND the output of the command to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5676902" y="27432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Redirect output of one command as input to another command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5676902" y="49403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-1 &lt;(cat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746499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&gt;&gt;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65300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62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70DB-399A-B34C-8251-EE83E79E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8C7E-F26C-F846-BCE8-3C3C70BC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to store information</a:t>
            </a:r>
          </a:p>
          <a:p>
            <a:pPr lvl="1"/>
            <a:r>
              <a:rPr lang="en-US" dirty="0"/>
              <a:t>number, text, file name,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The name can only contain:</a:t>
            </a:r>
          </a:p>
          <a:p>
            <a:pPr lvl="1"/>
            <a:r>
              <a:rPr lang="en-US" dirty="0"/>
              <a:t>Letters (a to z or A to Z)</a:t>
            </a:r>
          </a:p>
          <a:p>
            <a:pPr lvl="1"/>
            <a:r>
              <a:rPr lang="en-US" dirty="0"/>
              <a:t>Numbers (0 to 9) *not at the beginning</a:t>
            </a:r>
          </a:p>
          <a:p>
            <a:pPr lvl="1"/>
            <a:r>
              <a:rPr lang="en-US" dirty="0"/>
              <a:t>Underscore (“_”)</a:t>
            </a:r>
          </a:p>
          <a:p>
            <a:r>
              <a:rPr lang="en-US" dirty="0"/>
              <a:t>We can have several types:</a:t>
            </a:r>
          </a:p>
          <a:p>
            <a:pPr lvl="1"/>
            <a:r>
              <a:rPr lang="en-US" dirty="0"/>
              <a:t>Environment variables</a:t>
            </a:r>
          </a:p>
          <a:p>
            <a:pPr lvl="1"/>
            <a:r>
              <a:rPr lang="en-US" dirty="0"/>
              <a:t>Shell variables</a:t>
            </a:r>
          </a:p>
          <a:p>
            <a:pPr lvl="1"/>
            <a:r>
              <a:rPr lang="en-US" dirty="0"/>
              <a:t>Global and local variables</a:t>
            </a:r>
          </a:p>
        </p:txBody>
      </p:sp>
    </p:spTree>
    <p:extLst>
      <p:ext uri="{BB962C8B-B14F-4D97-AF65-F5344CB8AC3E}">
        <p14:creationId xmlns:p14="http://schemas.microsoft.com/office/powerpoint/2010/main" val="2023608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7A8D2B-41DC-7044-88A3-C8C822FE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612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Are variables that are accessible from any part of a script, within functions and sourced scripts.</a:t>
            </a:r>
          </a:p>
          <a:p>
            <a:r>
              <a:rPr lang="en-US" dirty="0"/>
              <a:t>They do not disappear when the process is done but when the shell session is closed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72B142-86B7-1F49-92BB-65023289338D}"/>
              </a:ext>
            </a:extLst>
          </p:cNvPr>
          <p:cNvSpPr/>
          <p:nvPr/>
        </p:nvSpPr>
        <p:spPr>
          <a:xfrm>
            <a:off x="774700" y="3429000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I_am_groot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$MY_NAME_LOCAL</a:t>
            </a:r>
          </a:p>
        </p:txBody>
      </p:sp>
    </p:spTree>
    <p:extLst>
      <p:ext uri="{BB962C8B-B14F-4D97-AF65-F5344CB8AC3E}">
        <p14:creationId xmlns:p14="http://schemas.microsoft.com/office/powerpoint/2010/main" val="3564007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Shell variables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D17B3E-50B0-2644-952A-20C0719FC84F}"/>
              </a:ext>
            </a:extLst>
          </p:cNvPr>
          <p:cNvSpPr/>
          <p:nvPr/>
        </p:nvSpPr>
        <p:spPr>
          <a:xfrm>
            <a:off x="769620" y="3138489"/>
            <a:ext cx="178816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$USER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9B1B24-F622-824C-A6D5-A06D63B67AF3}"/>
              </a:ext>
            </a:extLst>
          </p:cNvPr>
          <p:cNvSpPr/>
          <p:nvPr/>
        </p:nvSpPr>
        <p:spPr>
          <a:xfrm>
            <a:off x="2750820" y="3138489"/>
            <a:ext cx="178816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$HOME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07E018-A7FA-DF4F-B1EA-9BCD7C841889}"/>
              </a:ext>
            </a:extLst>
          </p:cNvPr>
          <p:cNvSpPr/>
          <p:nvPr/>
        </p:nvSpPr>
        <p:spPr>
          <a:xfrm>
            <a:off x="4680020" y="3138489"/>
            <a:ext cx="178816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61BE2-A28C-A14F-88BC-2166A66974F5}"/>
              </a:ext>
            </a:extLst>
          </p:cNvPr>
          <p:cNvSpPr/>
          <p:nvPr/>
        </p:nvSpPr>
        <p:spPr>
          <a:xfrm>
            <a:off x="769620" y="4152900"/>
            <a:ext cx="178816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Stores the name of the current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FDE9F-AAE5-BF41-BE88-D3383C98032D}"/>
              </a:ext>
            </a:extLst>
          </p:cNvPr>
          <p:cNvSpPr/>
          <p:nvPr/>
        </p:nvSpPr>
        <p:spPr>
          <a:xfrm>
            <a:off x="2750820" y="4152900"/>
            <a:ext cx="178816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Has the path to the user’s home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61950-A99F-AA42-9E74-A8761CE93587}"/>
              </a:ext>
            </a:extLst>
          </p:cNvPr>
          <p:cNvSpPr/>
          <p:nvPr/>
        </p:nvSpPr>
        <p:spPr>
          <a:xfrm>
            <a:off x="4680020" y="4165600"/>
            <a:ext cx="178816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all the directories where executable files are stored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F0243B-CF24-2647-9853-B87DEFF8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/>
              <a:t>Environment variables required by the shell to function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26D8E0-0DB8-2F47-94A3-CBA5AFD83D0B}"/>
              </a:ext>
            </a:extLst>
          </p:cNvPr>
          <p:cNvSpPr/>
          <p:nvPr/>
        </p:nvSpPr>
        <p:spPr>
          <a:xfrm>
            <a:off x="6609220" y="3138489"/>
            <a:ext cx="178816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$PWD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D5F132-6166-0B4A-816C-CCA80777FB5B}"/>
              </a:ext>
            </a:extLst>
          </p:cNvPr>
          <p:cNvSpPr/>
          <p:nvPr/>
        </p:nvSpPr>
        <p:spPr>
          <a:xfrm>
            <a:off x="6609220" y="4165600"/>
            <a:ext cx="1788160" cy="1714500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the path of the current directory </a:t>
            </a:r>
          </a:p>
        </p:txBody>
      </p:sp>
    </p:spTree>
    <p:extLst>
      <p:ext uri="{BB962C8B-B14F-4D97-AF65-F5344CB8AC3E}">
        <p14:creationId xmlns:p14="http://schemas.microsoft.com/office/powerpoint/2010/main" val="3854363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BFE3-AE20-C846-A04B-0E2A2C34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1259C-40A5-D941-9214-5DD600E1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 dirty="0"/>
              <a:t>Are available to any process in the shell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7D8FA1-1A9A-E549-96AB-F3B44A796B01}"/>
              </a:ext>
            </a:extLst>
          </p:cNvPr>
          <p:cNvSpPr/>
          <p:nvPr/>
        </p:nvSpPr>
        <p:spPr>
          <a:xfrm>
            <a:off x="787400" y="3208337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</a:t>
            </a:r>
          </a:p>
        </p:txBody>
      </p:sp>
    </p:spTree>
    <p:extLst>
      <p:ext uri="{BB962C8B-B14F-4D97-AF65-F5344CB8AC3E}">
        <p14:creationId xmlns:p14="http://schemas.microsoft.com/office/powerpoint/2010/main" val="490428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Substituting the variable with its value</a:t>
            </a:r>
          </a:p>
          <a:p>
            <a:r>
              <a:rPr lang="en-US" dirty="0"/>
              <a:t>It occurs before calling a command</a:t>
            </a:r>
          </a:p>
          <a:p>
            <a:r>
              <a:rPr lang="en-US" dirty="0"/>
              <a:t>If the result contains spaces, the expansion should be quoted</a:t>
            </a:r>
          </a:p>
          <a:p>
            <a:r>
              <a:rPr lang="en-US" dirty="0"/>
              <a:t>We can use operators to modify the content of the variable before passing it on to a command</a:t>
            </a:r>
          </a:p>
        </p:txBody>
      </p:sp>
    </p:spTree>
    <p:extLst>
      <p:ext uri="{BB962C8B-B14F-4D97-AF65-F5344CB8AC3E}">
        <p14:creationId xmlns:p14="http://schemas.microsoft.com/office/powerpoint/2010/main" val="1810447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 us to modify the content of the variable before passing it to a command</a:t>
            </a:r>
          </a:p>
          <a:p>
            <a:r>
              <a:rPr lang="en-US" dirty="0"/>
              <a:t>Extracting a part of the 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3753581"/>
            <a:ext cx="22288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VAR:offset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4716397"/>
            <a:ext cx="22288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VAR%pattern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3657600" y="3770251"/>
            <a:ext cx="48577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starting from the offset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3657600" y="4724731"/>
            <a:ext cx="48577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until it finds the pattern</a:t>
            </a:r>
          </a:p>
        </p:txBody>
      </p:sp>
    </p:spTree>
    <p:extLst>
      <p:ext uri="{BB962C8B-B14F-4D97-AF65-F5344CB8AC3E}">
        <p14:creationId xmlns:p14="http://schemas.microsoft.com/office/powerpoint/2010/main" val="352877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Replacing substrings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2864648"/>
            <a:ext cx="30670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${VAR/pattern/replace}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3810794"/>
            <a:ext cx="30670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${VAR//pattern/replace}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4381500" y="2864648"/>
            <a:ext cx="41338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the first time it appears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4381500" y="3781822"/>
            <a:ext cx="41338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all the times it appears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3E3486-723C-E747-933C-5A781AB7C4A1}"/>
              </a:ext>
            </a:extLst>
          </p:cNvPr>
          <p:cNvSpPr/>
          <p:nvPr/>
        </p:nvSpPr>
        <p:spPr>
          <a:xfrm>
            <a:off x="984250" y="4756940"/>
            <a:ext cx="3067050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${VAR%pattern}replace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E6E79-BC60-9844-95CC-8D05F803EA4B}"/>
              </a:ext>
            </a:extLst>
          </p:cNvPr>
          <p:cNvSpPr/>
          <p:nvPr/>
        </p:nvSpPr>
        <p:spPr>
          <a:xfrm>
            <a:off x="4381500" y="4773209"/>
            <a:ext cx="4133850" cy="5659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content until </a:t>
            </a:r>
            <a:r>
              <a:rPr lang="en-US" b="1"/>
              <a:t>pattern</a:t>
            </a:r>
            <a:r>
              <a:rPr lang="en-US"/>
              <a:t> and writes </a:t>
            </a:r>
            <a:r>
              <a:rPr lang="en-US" b="1"/>
              <a:t>replace</a:t>
            </a:r>
            <a:r>
              <a:rPr lang="en-US"/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3015853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912258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(…)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893458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{…}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5822658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((…))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912258" y="2705099"/>
            <a:ext cx="1625600" cy="2209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Subshell</a:t>
            </a:r>
          </a:p>
          <a:p>
            <a:pPr algn="ctr"/>
            <a:r>
              <a:rPr lang="en-US" sz="1400"/>
              <a:t>Contains a list of commands. If preceded by $(…) then its expanded to the output of the commands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893458" y="2705100"/>
            <a:ext cx="1625600" cy="22097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Group commands and affect their parsing. When written as ${VAR} it is a </a:t>
            </a:r>
            <a:r>
              <a:rPr lang="en-US" sz="1400" b="1"/>
              <a:t>parameter expansion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5822658" y="2717800"/>
            <a:ext cx="1625600" cy="220979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Arithmetic instructions</a:t>
            </a:r>
          </a:p>
          <a:p>
            <a:pPr algn="ctr"/>
            <a:r>
              <a:rPr lang="en-US" sz="1400"/>
              <a:t>They operate at the level of numbers. The expansion is also  $((…))  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5806658" y="5180234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y=6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$(($x+$y))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8934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{x=4}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(x=4)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9122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files=$(ls *xt)</a:t>
            </a:r>
          </a:p>
          <a:p>
            <a:endParaRPr lang="en-US" sz="8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54AA9-FD9C-DB40-8E19-397A33A5D03E}"/>
              </a:ext>
            </a:extLst>
          </p:cNvPr>
          <p:cNvSpPr/>
          <p:nvPr/>
        </p:nvSpPr>
        <p:spPr>
          <a:xfrm>
            <a:off x="96011" y="6492874"/>
            <a:ext cx="6485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stackoverflow.com</a:t>
            </a:r>
            <a:r>
              <a:rPr lang="en-US" sz="1000">
                <a:solidFill>
                  <a:schemeClr val="accent4"/>
                </a:solidFill>
              </a:rPr>
              <a:t>/questions/6270440/simple-logical-operators-in-bash</a:t>
            </a:r>
          </a:p>
        </p:txBody>
      </p:sp>
    </p:spTree>
    <p:extLst>
      <p:ext uri="{BB962C8B-B14F-4D97-AF65-F5344CB8AC3E}">
        <p14:creationId xmlns:p14="http://schemas.microsoft.com/office/powerpoint/2010/main" val="4243175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CB4D-0282-1A4C-BD48-E1739CE4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0408EB-53A5-8F48-9B0A-EACEF8216C24}"/>
              </a:ext>
            </a:extLst>
          </p:cNvPr>
          <p:cNvSpPr/>
          <p:nvPr/>
        </p:nvSpPr>
        <p:spPr>
          <a:xfrm>
            <a:off x="895350" y="2426601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FILE_NAME=$(ls ../data/ho1 | tail -1)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${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FILE_NAME:4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SUFFIX=${FILE_NAME:4}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A8E422-4D4A-1048-81A8-B0C97D2F790F}"/>
              </a:ext>
            </a:extLst>
          </p:cNvPr>
          <p:cNvSpPr/>
          <p:nvPr/>
        </p:nvSpPr>
        <p:spPr>
          <a:xfrm>
            <a:off x="895350" y="4431399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${FILE_NAME%${SUFFIX}}.csv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${FILE_NAME%_*}.csv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1A62B-5864-A24D-8616-4D5C244CB629}"/>
              </a:ext>
            </a:extLst>
          </p:cNvPr>
          <p:cNvSpPr txBox="1"/>
          <p:nvPr/>
        </p:nvSpPr>
        <p:spPr>
          <a:xfrm>
            <a:off x="895350" y="1816100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Extract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6B0DD-1E60-C648-88D7-8540A7FAD86C}"/>
              </a:ext>
            </a:extLst>
          </p:cNvPr>
          <p:cNvSpPr txBox="1"/>
          <p:nvPr/>
        </p:nvSpPr>
        <p:spPr>
          <a:xfrm>
            <a:off x="895350" y="3938245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377575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Pattern matching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Search a pattern in a file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</a:rPr>
              <a:t>grep Male </a:t>
            </a:r>
            <a:r>
              <a:rPr lang="en-US" sz="12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happiness.csv</a:t>
            </a:r>
            <a:endParaRPr lang="en-US" sz="12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7A6F24F-8F48-5941-AE8A-A11D4065CD4E}"/>
              </a:ext>
            </a:extLst>
          </p:cNvPr>
          <p:cNvSpPr/>
          <p:nvPr/>
        </p:nvSpPr>
        <p:spPr>
          <a:xfrm>
            <a:off x="3987800" y="1927225"/>
            <a:ext cx="4343400" cy="327024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Country Gender Mean N=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7.3 471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Female 7.3 570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Both 7.3 1041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7.8 468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Female 7.8 542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Both 7.8 1010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5.8 416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Female 5.8 555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Both 5.8 971</a:t>
            </a:r>
          </a:p>
        </p:txBody>
      </p:sp>
    </p:spTree>
    <p:extLst>
      <p:ext uri="{BB962C8B-B14F-4D97-AF65-F5344CB8AC3E}">
        <p14:creationId xmlns:p14="http://schemas.microsoft.com/office/powerpoint/2010/main" val="4218341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2127250" y="184892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Groups and ranges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794585" y="185634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Character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6BC522-99FB-0649-8BEE-359B48F723EE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  <p:pic>
        <p:nvPicPr>
          <p:cNvPr id="6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8AFF74AC-24FD-7314-E63A-82FFAAB3B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r="16743" b="10325"/>
          <a:stretch/>
        </p:blipFill>
        <p:spPr>
          <a:xfrm>
            <a:off x="1171575" y="2339974"/>
            <a:ext cx="4171950" cy="3902075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473C56C-53E9-A9F8-E51C-5C13C852E7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11478" r="43889" b="23141"/>
          <a:stretch/>
        </p:blipFill>
        <p:spPr>
          <a:xfrm>
            <a:off x="5560764" y="2339974"/>
            <a:ext cx="2728243" cy="2260600"/>
          </a:xfrm>
          <a:prstGeom prst="rect">
            <a:avLst/>
          </a:prstGeom>
          <a:ln>
            <a:solidFill>
              <a:srgbClr val="686868"/>
            </a:solidFill>
          </a:ln>
        </p:spPr>
      </p:pic>
    </p:spTree>
    <p:extLst>
      <p:ext uri="{BB962C8B-B14F-4D97-AF65-F5344CB8AC3E}">
        <p14:creationId xmlns:p14="http://schemas.microsoft.com/office/powerpoint/2010/main" val="1293217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1432121" y="178411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Anchors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620758" y="1816417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Quantifiers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1E07BC5-D1A7-7543-821F-1983CE9D7D2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04457" y="2246867"/>
            <a:ext cx="3867543" cy="358140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01C175D1-5E63-1044-843D-556F7425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79409" y="2258771"/>
            <a:ext cx="3943298" cy="114935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1B38F84-1B42-8B4F-B410-011C28BE129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779410" y="3938104"/>
            <a:ext cx="3943298" cy="1888340"/>
          </a:xfrm>
          <a:prstGeom prst="rect">
            <a:avLst/>
          </a:prstGeom>
          <a:ln>
            <a:solidFill>
              <a:srgbClr val="686868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B089E0-C47D-634D-B655-FC80DB5C7567}"/>
              </a:ext>
            </a:extLst>
          </p:cNvPr>
          <p:cNvSpPr txBox="1"/>
          <p:nvPr/>
        </p:nvSpPr>
        <p:spPr>
          <a:xfrm>
            <a:off x="5620758" y="3489789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Special characters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FF8DD-D270-0641-B7EE-48C65AB6A9FA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</p:spTree>
    <p:extLst>
      <p:ext uri="{BB962C8B-B14F-4D97-AF65-F5344CB8AC3E}">
        <p14:creationId xmlns:p14="http://schemas.microsoft.com/office/powerpoint/2010/main" val="3631862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All lines that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that do not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with a country from the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28124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-E "^[A-Z]+"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happiness.csv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-v -E "^[A-Z]+" happiness.csv</a:t>
            </a:r>
          </a:p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 -E "^\W" happiness.csv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</a:rPr>
              <a:t>grep -f countries.txt </a:t>
            </a:r>
            <a:r>
              <a:rPr lang="en-US" sz="1600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happiness.complete.tsv</a:t>
            </a:r>
            <a:endParaRPr lang="en-US" sz="1600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53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081E-D21F-B28C-9FF8-56231A60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AC62-D5FD-6159-20A5-46787BA4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skills</a:t>
            </a:r>
          </a:p>
        </p:txBody>
      </p:sp>
    </p:spTree>
    <p:extLst>
      <p:ext uri="{BB962C8B-B14F-4D97-AF65-F5344CB8AC3E}">
        <p14:creationId xmlns:p14="http://schemas.microsoft.com/office/powerpoint/2010/main" val="31063343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Scripting language that provides much more flexibility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4"/>
            <a:ext cx="72077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length(string)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tolower(string)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toupper(string)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match(string,pattern)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b="1" dirty="0">
                <a:ea typeface="Menlo" panose="020B0609030804020204" pitchFamily="49" charset="0"/>
                <a:cs typeface="Menlo" panose="020B0609030804020204" pitchFamily="49" charset="0"/>
              </a:rPr>
              <a:t>Built-in variables</a:t>
            </a:r>
          </a:p>
          <a:p>
            <a:endParaRPr lang="en-US" sz="1600" b="1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Entire line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Fields (specified by delimiter)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$1,$2,…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5647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sz="2400" dirty="0"/>
              <a:t>Print the 3rd column and then the 1st column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Print columns 1,3 and 2 if they contain the word “Female”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Count the number of characters in “Female” entries 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52500" y="2259021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awk '{print $3 "\t" $1}'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599664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awk '/Female/ {print $1 "\t" $3 "\t" $2}'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2"/>
              </a:solidFill>
              <a:latin typeface="Menlo" panose="020B06090308040202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110165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</a:rPr>
              <a:t>awk -F "," '/Female/ { print length($0) "\t" $1 "\t" $2}'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</a:t>
            </a:r>
            <a:r>
              <a:rPr lang="en-US" altLang="zh-CN" dirty="0" err="1">
                <a:solidFill>
                  <a:schemeClr val="accent3"/>
                </a:solidFill>
                <a:latin typeface="Menlo" panose="020B0609030804020204" pitchFamily="49" charset="0"/>
              </a:rPr>
              <a:t>t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sv</a:t>
            </a:r>
            <a:endParaRPr lang="en-US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53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Command or streamline editor with multiple text processing functionalities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3"/>
            <a:ext cx="72675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/search/replace/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for pattern substitution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/g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replace all occurrences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/1,/2,…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-  specifying which occurrence to replace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/I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Ignore case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write to a file with 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filename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 to run multiple commands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 -e 's/a/A/' -e 's/b/B/'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2348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Delete the first 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Replace capital A for lowercase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Print the first line every 3 lines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111384"/>
            <a:ext cx="7239000" cy="81755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ls -l | sed 1d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sed 's/A/a/g'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 | head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</a:rPr>
              <a:t>awk 'NR % 3 == 0' happiness.csv</a:t>
            </a:r>
          </a:p>
        </p:txBody>
      </p:sp>
    </p:spTree>
    <p:extLst>
      <p:ext uri="{BB962C8B-B14F-4D97-AF65-F5344CB8AC3E}">
        <p14:creationId xmlns:p14="http://schemas.microsoft.com/office/powerpoint/2010/main" val="2148185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2.1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9D0939B-9D1D-8391-FFD5-EDA8DEB6A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9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1650999"/>
            <a:ext cx="7953348" cy="4549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 (move files there if missing)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 many ”Female” and “Male” entries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happinhowess.complete.tsv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Count how many unique countries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676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2.2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233F028-F6BB-7686-2171-E3B1B5D18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29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2335427"/>
            <a:ext cx="7953348" cy="386534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in which all the countries are written in lowercase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Replace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Female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”, “Male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and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 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and look at the first 10 lines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with all the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entries only for the countries included the file </a:t>
            </a:r>
            <a:r>
              <a:rPr lang="en-US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countries.txt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dirty="0">
              <a:latin typeface="Menlo" panose="020B0609030804020204"/>
            </a:endParaRPr>
          </a:p>
          <a:p>
            <a:pPr marL="0" indent="0">
              <a:buNone/>
            </a:pP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61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happen?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2F249-BCBA-664F-8550-DB6C53A6BB67}"/>
              </a:ext>
            </a:extLst>
          </p:cNvPr>
          <p:cNvSpPr/>
          <p:nvPr/>
        </p:nvSpPr>
        <p:spPr>
          <a:xfrm>
            <a:off x="895350" y="1830389"/>
            <a:ext cx="7175500" cy="1198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larisa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my_name.sh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CEFAE8-AE8F-1B4B-9C9D-65846069C9D1}"/>
              </a:ext>
            </a:extLst>
          </p:cNvPr>
          <p:cNvSpPr/>
          <p:nvPr/>
        </p:nvSpPr>
        <p:spPr>
          <a:xfrm>
            <a:off x="1746250" y="3219453"/>
            <a:ext cx="63246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#!/bin/sh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${MY_NAME}"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${MY_NAME_LOCAL}"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B3D33C-77AF-5948-B6C5-C4E214CCDA46}"/>
              </a:ext>
            </a:extLst>
          </p:cNvPr>
          <p:cNvSpPr/>
          <p:nvPr/>
        </p:nvSpPr>
        <p:spPr>
          <a:xfrm>
            <a:off x="895350" y="4565653"/>
            <a:ext cx="71755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u+x my_name.sh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./my_name.sh</a:t>
            </a:r>
          </a:p>
        </p:txBody>
      </p:sp>
    </p:spTree>
    <p:extLst>
      <p:ext uri="{BB962C8B-B14F-4D97-AF65-F5344CB8AC3E}">
        <p14:creationId xmlns:p14="http://schemas.microsoft.com/office/powerpoint/2010/main" val="1314023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3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6340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loop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37FBA3-896C-AB48-8732-4E10AE053D40}"/>
              </a:ext>
            </a:extLst>
          </p:cNvPr>
          <p:cNvSpPr/>
          <p:nvPr/>
        </p:nvSpPr>
        <p:spPr>
          <a:xfrm>
            <a:off x="628650" y="1670569"/>
            <a:ext cx="3943350" cy="17383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element in [list]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</a:p>
          <a:p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34E50-7064-A546-B9F7-1ED145EA4A5E}"/>
              </a:ext>
            </a:extLst>
          </p:cNvPr>
          <p:cNvSpPr txBox="1"/>
          <p:nvPr/>
        </p:nvSpPr>
        <p:spPr>
          <a:xfrm>
            <a:off x="628650" y="3898715"/>
            <a:ext cx="3943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This loop iterates over all the elements in the list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Executes some command until the list is 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B7A5F-1F50-C44C-A2CD-699BA5C9CBFD}"/>
              </a:ext>
            </a:extLst>
          </p:cNvPr>
          <p:cNvSpPr txBox="1"/>
          <p:nvPr/>
        </p:nvSpPr>
        <p:spPr>
          <a:xfrm>
            <a:off x="104503" y="6492874"/>
            <a:ext cx="3174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</a:rPr>
              <a:t>Adapted from https://</a:t>
            </a:r>
            <a:r>
              <a:rPr lang="en-US" sz="1000" err="1">
                <a:solidFill>
                  <a:schemeClr val="tx2"/>
                </a:solidFill>
              </a:rPr>
              <a:t>linuxize.com</a:t>
            </a:r>
            <a:r>
              <a:rPr lang="en-US" sz="1000">
                <a:solidFill>
                  <a:schemeClr val="tx2"/>
                </a:solidFill>
              </a:rPr>
              <a:t>/post/bash-while-loop/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030D33-6983-5940-8ADE-D3DA10D91258}"/>
              </a:ext>
            </a:extLst>
          </p:cNvPr>
          <p:cNvSpPr/>
          <p:nvPr/>
        </p:nvSpPr>
        <p:spPr>
          <a:xfrm>
            <a:off x="5059407" y="2054058"/>
            <a:ext cx="3618412" cy="176627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{1..10}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echo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number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endParaRPr lang="en-US" sz="1600" i="1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C0B742-0269-4942-9D43-CAB15B28D970}"/>
              </a:ext>
            </a:extLst>
          </p:cNvPr>
          <p:cNvSpPr/>
          <p:nvPr/>
        </p:nvSpPr>
        <p:spPr>
          <a:xfrm>
            <a:off x="5059407" y="4518205"/>
            <a:ext cx="3618412" cy="16312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file in *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“$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file” “${file%.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}.txt”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B445C-F54F-1C47-82A0-D534966E64C6}"/>
              </a:ext>
            </a:extLst>
          </p:cNvPr>
          <p:cNvSpPr txBox="1"/>
          <p:nvPr/>
        </p:nvSpPr>
        <p:spPr>
          <a:xfrm>
            <a:off x="5059407" y="1598444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Numbers smaller than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BA4D-1E41-354A-98A5-AA79758CE192}"/>
              </a:ext>
            </a:extLst>
          </p:cNvPr>
          <p:cNvSpPr txBox="1"/>
          <p:nvPr/>
        </p:nvSpPr>
        <p:spPr>
          <a:xfrm>
            <a:off x="5059407" y="4053903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Change file extension</a:t>
            </a:r>
          </a:p>
        </p:txBody>
      </p:sp>
    </p:spTree>
    <p:extLst>
      <p:ext uri="{BB962C8B-B14F-4D97-AF65-F5344CB8AC3E}">
        <p14:creationId xmlns:p14="http://schemas.microsoft.com/office/powerpoint/2010/main" val="3388741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statements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2DFAA9-E29D-604F-89AD-93F98220A9F2}"/>
              </a:ext>
            </a:extLst>
          </p:cNvPr>
          <p:cNvSpPr/>
          <p:nvPr/>
        </p:nvSpPr>
        <p:spPr>
          <a:xfrm>
            <a:off x="628650" y="1670568"/>
            <a:ext cx="2545624" cy="2228147"/>
          </a:xfrm>
          <a:prstGeom prst="round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99D8B-28EE-1443-8664-81632E4A9757}"/>
              </a:ext>
            </a:extLst>
          </p:cNvPr>
          <p:cNvSpPr txBox="1"/>
          <p:nvPr/>
        </p:nvSpPr>
        <p:spPr>
          <a:xfrm>
            <a:off x="628650" y="4058587"/>
            <a:ext cx="2545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output of the test is </a:t>
            </a:r>
            <a:r>
              <a:rPr lang="en-US" b="1" i="1" dirty="0"/>
              <a:t>True</a:t>
            </a:r>
            <a:r>
              <a:rPr lang="en-US" dirty="0"/>
              <a:t> then the commands are executed. If it’s false, nothing happens.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678F87-3A57-2449-B7DA-D0996F0C91C6}"/>
              </a:ext>
            </a:extLst>
          </p:cNvPr>
          <p:cNvSpPr/>
          <p:nvPr/>
        </p:nvSpPr>
        <p:spPr>
          <a:xfrm>
            <a:off x="3399336" y="1700635"/>
            <a:ext cx="2445476" cy="2198080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039E-B3A6-7948-AAB0-58CAC765632F}"/>
              </a:ext>
            </a:extLst>
          </p:cNvPr>
          <p:cNvSpPr txBox="1"/>
          <p:nvPr/>
        </p:nvSpPr>
        <p:spPr>
          <a:xfrm>
            <a:off x="3399337" y="4058587"/>
            <a:ext cx="2445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test is </a:t>
            </a:r>
            <a:r>
              <a:rPr lang="en-US" b="1" i="1" dirty="0"/>
              <a:t>True</a:t>
            </a:r>
            <a:r>
              <a:rPr lang="en-US" dirty="0"/>
              <a:t> then executed commands1 If it’s </a:t>
            </a:r>
            <a:r>
              <a:rPr lang="en-US" b="1" i="1" dirty="0"/>
              <a:t>False</a:t>
            </a:r>
            <a:r>
              <a:rPr lang="en-US" dirty="0"/>
              <a:t> then executes commands2.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0D8FFD-F4E6-864D-BCBF-0F7B963D0A34}"/>
              </a:ext>
            </a:extLst>
          </p:cNvPr>
          <p:cNvSpPr/>
          <p:nvPr/>
        </p:nvSpPr>
        <p:spPr>
          <a:xfrm>
            <a:off x="6069873" y="1700635"/>
            <a:ext cx="2445477" cy="2198080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74B6-AD34-634E-AD07-4BE03458017A}"/>
              </a:ext>
            </a:extLst>
          </p:cNvPr>
          <p:cNvSpPr txBox="1"/>
          <p:nvPr/>
        </p:nvSpPr>
        <p:spPr>
          <a:xfrm>
            <a:off x="6069873" y="4067688"/>
            <a:ext cx="2545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test1 is </a:t>
            </a:r>
            <a:r>
              <a:rPr lang="en-US" b="1" i="1" dirty="0"/>
              <a:t>True</a:t>
            </a:r>
            <a:r>
              <a:rPr lang="en-US" dirty="0"/>
              <a:t> it executes commands1. If it is </a:t>
            </a:r>
            <a:r>
              <a:rPr lang="en-US" b="1" i="1" dirty="0"/>
              <a:t>False</a:t>
            </a:r>
            <a:r>
              <a:rPr lang="en-US" dirty="0"/>
              <a:t> then evaluates test2. If test2 is </a:t>
            </a:r>
            <a:r>
              <a:rPr lang="en-US" b="1" i="1" dirty="0"/>
              <a:t>True, </a:t>
            </a:r>
            <a:r>
              <a:rPr lang="en-US" dirty="0"/>
              <a:t>executes commands2. If it is false, executes commands3 </a:t>
            </a:r>
          </a:p>
        </p:txBody>
      </p:sp>
    </p:spTree>
    <p:extLst>
      <p:ext uri="{BB962C8B-B14F-4D97-AF65-F5344CB8AC3E}">
        <p14:creationId xmlns:p14="http://schemas.microsoft.com/office/powerpoint/2010/main" val="4239168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variables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494744"/>
            <a:ext cx="1303382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-n VAR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812798" y="3649389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== S2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7EB8EA-58CB-894F-AE59-06137EDC05DE}"/>
              </a:ext>
            </a:extLst>
          </p:cNvPr>
          <p:cNvSpPr/>
          <p:nvPr/>
        </p:nvSpPr>
        <p:spPr>
          <a:xfrm>
            <a:off x="812799" y="222356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-z VAR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CC6B72-425B-3B49-9916-BD598FEB2858}"/>
              </a:ext>
            </a:extLst>
          </p:cNvPr>
          <p:cNvSpPr/>
          <p:nvPr/>
        </p:nvSpPr>
        <p:spPr>
          <a:xfrm>
            <a:off x="812798" y="434635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!= S2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1BF6D2-9DBC-D241-A355-8DEBB2218C69}"/>
              </a:ext>
            </a:extLst>
          </p:cNvPr>
          <p:cNvSpPr/>
          <p:nvPr/>
        </p:nvSpPr>
        <p:spPr>
          <a:xfrm>
            <a:off x="2300332" y="1494743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FB7FA1F-360A-2C40-8982-ACE4FA9A6FC4}"/>
              </a:ext>
            </a:extLst>
          </p:cNvPr>
          <p:cNvSpPr/>
          <p:nvPr/>
        </p:nvSpPr>
        <p:spPr>
          <a:xfrm>
            <a:off x="2300332" y="2226444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C32857E-236A-C34B-8B4E-D80660718A9A}"/>
              </a:ext>
            </a:extLst>
          </p:cNvPr>
          <p:cNvSpPr/>
          <p:nvPr/>
        </p:nvSpPr>
        <p:spPr>
          <a:xfrm>
            <a:off x="827311" y="293825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-v VAR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8020B4-E42C-EC41-B920-B96814402BD7}"/>
              </a:ext>
            </a:extLst>
          </p:cNvPr>
          <p:cNvSpPr/>
          <p:nvPr/>
        </p:nvSpPr>
        <p:spPr>
          <a:xfrm>
            <a:off x="2300331" y="2938254"/>
            <a:ext cx="6016357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variable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has been assigned a value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EFBB220-2D83-4A4F-9DC2-C6D3B2B18B41}"/>
              </a:ext>
            </a:extLst>
          </p:cNvPr>
          <p:cNvSpPr/>
          <p:nvPr/>
        </p:nvSpPr>
        <p:spPr>
          <a:xfrm>
            <a:off x="2300332" y="3627547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1ABDAB-EF31-9D40-885E-A35C9775318C}"/>
              </a:ext>
            </a:extLst>
          </p:cNvPr>
          <p:cNvSpPr/>
          <p:nvPr/>
        </p:nvSpPr>
        <p:spPr>
          <a:xfrm>
            <a:off x="812798" y="505371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&lt; S2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B32FD3C-04F2-4148-BEBB-7C1A466B4A8B}"/>
              </a:ext>
            </a:extLst>
          </p:cNvPr>
          <p:cNvSpPr/>
          <p:nvPr/>
        </p:nvSpPr>
        <p:spPr>
          <a:xfrm>
            <a:off x="2300332" y="4346350"/>
            <a:ext cx="6030868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 not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7E9E693-80AF-454A-983C-0A110968A448}"/>
              </a:ext>
            </a:extLst>
          </p:cNvPr>
          <p:cNvSpPr/>
          <p:nvPr/>
        </p:nvSpPr>
        <p:spPr>
          <a:xfrm>
            <a:off x="2300331" y="5061926"/>
            <a:ext cx="6030867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before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19D50A9-002E-8747-90C6-F29A8FEC4E57}"/>
              </a:ext>
            </a:extLst>
          </p:cNvPr>
          <p:cNvSpPr/>
          <p:nvPr/>
        </p:nvSpPr>
        <p:spPr>
          <a:xfrm>
            <a:off x="812798" y="576107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&gt; S2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B09F63-4D0C-5344-B6C5-B05DB4696CD6}"/>
              </a:ext>
            </a:extLst>
          </p:cNvPr>
          <p:cNvSpPr/>
          <p:nvPr/>
        </p:nvSpPr>
        <p:spPr>
          <a:xfrm>
            <a:off x="2300332" y="5755098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after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846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arithmetic operations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–eq INT2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1F9AA-826D-8D45-B775-A898183EC495}"/>
              </a:ext>
            </a:extLst>
          </p:cNvPr>
          <p:cNvSpPr/>
          <p:nvPr/>
        </p:nvSpPr>
        <p:spPr>
          <a:xfrm>
            <a:off x="812800" y="2481901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DE5C9D-FC2A-3D4E-B496-99D243D94593}"/>
              </a:ext>
            </a:extLst>
          </p:cNvPr>
          <p:cNvSpPr/>
          <p:nvPr/>
        </p:nvSpPr>
        <p:spPr>
          <a:xfrm>
            <a:off x="812800" y="3273113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E48C6C-4B0F-2143-AE20-B987372CB53E}"/>
              </a:ext>
            </a:extLst>
          </p:cNvPr>
          <p:cNvSpPr/>
          <p:nvPr/>
        </p:nvSpPr>
        <p:spPr>
          <a:xfrm>
            <a:off x="812800" y="406432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7BAFAA-5BB4-214C-8BE6-3C8BC81E7E54}"/>
              </a:ext>
            </a:extLst>
          </p:cNvPr>
          <p:cNvSpPr/>
          <p:nvPr/>
        </p:nvSpPr>
        <p:spPr>
          <a:xfrm>
            <a:off x="812800" y="487600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–le INT2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D76DD6-A64B-BC42-BB68-D10E40B8B281}"/>
              </a:ext>
            </a:extLst>
          </p:cNvPr>
          <p:cNvSpPr/>
          <p:nvPr/>
        </p:nvSpPr>
        <p:spPr>
          <a:xfrm>
            <a:off x="3345363" y="1690689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to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8E8AC7-FAF7-5042-B234-BD32262DA16E}"/>
              </a:ext>
            </a:extLst>
          </p:cNvPr>
          <p:cNvSpPr/>
          <p:nvPr/>
        </p:nvSpPr>
        <p:spPr>
          <a:xfrm>
            <a:off x="3345362" y="2489704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F7B587-5D81-064D-919B-4D62F7F8A937}"/>
              </a:ext>
            </a:extLst>
          </p:cNvPr>
          <p:cNvSpPr/>
          <p:nvPr/>
        </p:nvSpPr>
        <p:spPr>
          <a:xfrm>
            <a:off x="3345363" y="3273112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367CB1-1A12-9E4E-B191-A6343AA54A98}"/>
              </a:ext>
            </a:extLst>
          </p:cNvPr>
          <p:cNvSpPr/>
          <p:nvPr/>
        </p:nvSpPr>
        <p:spPr>
          <a:xfrm>
            <a:off x="3345362" y="4072127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41187D-3282-2D48-9F83-F40781BB478A}"/>
              </a:ext>
            </a:extLst>
          </p:cNvPr>
          <p:cNvSpPr/>
          <p:nvPr/>
        </p:nvSpPr>
        <p:spPr>
          <a:xfrm>
            <a:off x="3345362" y="4876005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D3F94-515F-4F85-73D4-E6862252EA2E}"/>
              </a:ext>
            </a:extLst>
          </p:cNvPr>
          <p:cNvSpPr txBox="1"/>
          <p:nvPr/>
        </p:nvSpPr>
        <p:spPr>
          <a:xfrm>
            <a:off x="353826" y="5687685"/>
            <a:ext cx="888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*Note: For arithmetic operations the statement need to be inside double square braces: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[[ INT1 –eq INT2 ]] in the case of integers</a:t>
            </a:r>
          </a:p>
        </p:txBody>
      </p:sp>
    </p:spTree>
    <p:extLst>
      <p:ext uri="{BB962C8B-B14F-4D97-AF65-F5344CB8AC3E}">
        <p14:creationId xmlns:p14="http://schemas.microsoft.com/office/powerpoint/2010/main" val="870399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files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-f FILE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548BDFE-FF38-9D43-A0C6-C15E5219E39D}"/>
              </a:ext>
            </a:extLst>
          </p:cNvPr>
          <p:cNvSpPr/>
          <p:nvPr/>
        </p:nvSpPr>
        <p:spPr>
          <a:xfrm>
            <a:off x="812799" y="243400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FILE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678097-F64E-5347-B213-3C0BD765AF9E}"/>
              </a:ext>
            </a:extLst>
          </p:cNvPr>
          <p:cNvSpPr/>
          <p:nvPr/>
        </p:nvSpPr>
        <p:spPr>
          <a:xfrm>
            <a:off x="825861" y="313769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D4B250-CFCF-C444-A4CC-F6760C991D60}"/>
              </a:ext>
            </a:extLst>
          </p:cNvPr>
          <p:cNvSpPr/>
          <p:nvPr/>
        </p:nvSpPr>
        <p:spPr>
          <a:xfrm>
            <a:off x="812798" y="3911011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-r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7EBFFE-91BF-EA48-9554-4E0DFE56815D}"/>
              </a:ext>
            </a:extLst>
          </p:cNvPr>
          <p:cNvSpPr/>
          <p:nvPr/>
        </p:nvSpPr>
        <p:spPr>
          <a:xfrm>
            <a:off x="825861" y="4684328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-w 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BAE68C-090D-7D45-8C3D-A28BF6638439}"/>
              </a:ext>
            </a:extLst>
          </p:cNvPr>
          <p:cNvSpPr/>
          <p:nvPr/>
        </p:nvSpPr>
        <p:spPr>
          <a:xfrm>
            <a:off x="825861" y="5457645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-s FILE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C62296-3140-AF40-851B-0839E48F1321}"/>
              </a:ext>
            </a:extLst>
          </p:cNvPr>
          <p:cNvSpPr/>
          <p:nvPr/>
        </p:nvSpPr>
        <p:spPr>
          <a:xfrm>
            <a:off x="2300332" y="1690689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regular 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AD70CA8-8957-7748-87A2-EC6473E06B66}"/>
              </a:ext>
            </a:extLst>
          </p:cNvPr>
          <p:cNvSpPr/>
          <p:nvPr/>
        </p:nvSpPr>
        <p:spPr>
          <a:xfrm>
            <a:off x="2300331" y="243364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directory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342A3E-39F1-4747-82B0-14DCFCD3813E}"/>
              </a:ext>
            </a:extLst>
          </p:cNvPr>
          <p:cNvSpPr/>
          <p:nvPr/>
        </p:nvSpPr>
        <p:spPr>
          <a:xfrm>
            <a:off x="2300330" y="3137693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0ED223-5B13-9B49-8EFE-E43DBB255570}"/>
              </a:ext>
            </a:extLst>
          </p:cNvPr>
          <p:cNvSpPr/>
          <p:nvPr/>
        </p:nvSpPr>
        <p:spPr>
          <a:xfrm>
            <a:off x="2300330" y="391101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readable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33CCDC6-1CCF-644E-8C91-F5DE69B4E0F7}"/>
              </a:ext>
            </a:extLst>
          </p:cNvPr>
          <p:cNvSpPr/>
          <p:nvPr/>
        </p:nvSpPr>
        <p:spPr>
          <a:xfrm>
            <a:off x="2300329" y="4689228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writeable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0D3970-8470-F646-932E-231EC2EEC68A}"/>
              </a:ext>
            </a:extLst>
          </p:cNvPr>
          <p:cNvSpPr/>
          <p:nvPr/>
        </p:nvSpPr>
        <p:spPr>
          <a:xfrm>
            <a:off x="2287272" y="5457644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has a size greater than zero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7EF04E-7330-4844-896F-D11EE379634D}"/>
              </a:ext>
            </a:extLst>
          </p:cNvPr>
          <p:cNvSpPr/>
          <p:nvPr/>
        </p:nvSpPr>
        <p:spPr>
          <a:xfrm>
            <a:off x="117565" y="6467723"/>
            <a:ext cx="65314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http://</a:t>
            </a:r>
            <a:r>
              <a:rPr lang="en-US" sz="1000" err="1">
                <a:solidFill>
                  <a:schemeClr val="accent4"/>
                </a:solidFill>
              </a:rPr>
              <a:t>www.gnu.org</a:t>
            </a:r>
            <a:r>
              <a:rPr lang="en-US" sz="1000">
                <a:solidFill>
                  <a:schemeClr val="accent4"/>
                </a:solidFill>
              </a:rPr>
              <a:t>/software/bash/manual/</a:t>
            </a:r>
            <a:r>
              <a:rPr lang="en-US" sz="1000" err="1">
                <a:solidFill>
                  <a:schemeClr val="accent4"/>
                </a:solidFill>
              </a:rPr>
              <a:t>bash.html#Bash-Conditional-Expressions</a:t>
            </a:r>
            <a:endParaRPr lang="en-US" sz="10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563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7886700" cy="127317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Hands on 3.1 </a:t>
            </a:r>
            <a:br>
              <a:rPr lang="en-US" sz="5400" dirty="0"/>
            </a:br>
            <a:r>
              <a:rPr lang="en-US" sz="5400" dirty="0"/>
              <a:t>and solution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4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952B2-861D-EC10-256E-FEB9718B0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304818"/>
            <a:ext cx="8658742" cy="50737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Counting and Analyzing Car Manufacturers</a:t>
            </a:r>
          </a:p>
          <a:p>
            <a:r>
              <a:rPr lang="en-US" dirty="0">
                <a:latin typeface="Menlo" panose="020B0609030804020204"/>
              </a:rPr>
              <a:t>You have a TSV file named </a:t>
            </a:r>
            <a:r>
              <a:rPr lang="en-US" dirty="0" err="1">
                <a:solidFill>
                  <a:srgbClr val="00B0F0"/>
                </a:solidFill>
                <a:latin typeface="Menlo" panose="020B0609030804020204"/>
              </a:rPr>
              <a:t>cars.tsv</a:t>
            </a:r>
            <a:r>
              <a:rPr lang="en-US" dirty="0">
                <a:solidFill>
                  <a:srgbClr val="00B0F0"/>
                </a:solidFill>
                <a:latin typeface="Menlo" panose="020B0609030804020204"/>
              </a:rPr>
              <a:t> </a:t>
            </a:r>
            <a:r>
              <a:rPr lang="en-US" dirty="0">
                <a:latin typeface="Menlo" panose="020B0609030804020204"/>
              </a:rPr>
              <a:t>in your ho1 current directory.</a:t>
            </a:r>
          </a:p>
          <a:p>
            <a:r>
              <a:rPr lang="en-US" dirty="0">
                <a:latin typeface="Menlo" panose="020B0609030804020204"/>
              </a:rPr>
              <a:t>The file contains data about cars, with at least the following columns: ID, Manufacturer, Model, Year.</a:t>
            </a:r>
          </a:p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Requirements:</a:t>
            </a:r>
          </a:p>
          <a:p>
            <a:r>
              <a:rPr lang="en-US" dirty="0">
                <a:latin typeface="Menlo" panose="020B0609030804020204"/>
              </a:rPr>
              <a:t>Write a Bash script to process the </a:t>
            </a:r>
            <a:r>
              <a:rPr lang="en-US" dirty="0" err="1">
                <a:latin typeface="Menlo" panose="020B0609030804020204"/>
              </a:rPr>
              <a:t>cars.tsv</a:t>
            </a:r>
            <a:r>
              <a:rPr lang="en-US" dirty="0">
                <a:latin typeface="Menlo" panose="020B0609030804020204"/>
              </a:rPr>
              <a:t> file and:</a:t>
            </a:r>
          </a:p>
          <a:p>
            <a:pPr lvl="1"/>
            <a:r>
              <a:rPr lang="en-US" dirty="0">
                <a:latin typeface="Menlo" panose="020B0609030804020204"/>
              </a:rPr>
              <a:t>Count the total number of cars (excluding the header).</a:t>
            </a:r>
          </a:p>
          <a:p>
            <a:pPr lvl="1"/>
            <a:r>
              <a:rPr lang="en-US" dirty="0">
                <a:latin typeface="Menlo" panose="020B0609030804020204"/>
              </a:rPr>
              <a:t>Count the number of cars for each manufacturer (e.g., Toyota, Honda, Ford).</a:t>
            </a:r>
          </a:p>
          <a:p>
            <a:pPr lvl="1"/>
            <a:r>
              <a:rPr lang="en-US" dirty="0">
                <a:latin typeface="Menlo" panose="020B0609030804020204"/>
              </a:rPr>
              <a:t>Calculate the percentage of cars for each manufacturer.</a:t>
            </a:r>
          </a:p>
          <a:p>
            <a:pPr lvl="1"/>
            <a:r>
              <a:rPr lang="en-US" dirty="0">
                <a:latin typeface="Menlo" panose="020B0609030804020204"/>
              </a:rPr>
              <a:t>Print the results in a readable format.</a:t>
            </a:r>
            <a:endParaRPr lang="en-CA" dirty="0">
              <a:latin typeface="Menlo" panose="020B0609030804020204"/>
            </a:endParaRPr>
          </a:p>
        </p:txBody>
      </p:sp>
    </p:spTree>
    <p:extLst>
      <p:ext uri="{BB962C8B-B14F-4D97-AF65-F5344CB8AC3E}">
        <p14:creationId xmlns:p14="http://schemas.microsoft.com/office/powerpoint/2010/main" val="309638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computing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46776D-3347-2C9E-D16F-DB2C87C44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82" t="25638" r="31551" b="9335"/>
          <a:stretch/>
        </p:blipFill>
        <p:spPr>
          <a:xfrm>
            <a:off x="3499562" y="4243754"/>
            <a:ext cx="2326445" cy="2407916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8001CC-A57E-B7E9-6F6C-5D39AD22A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1" t="23039" r="14744" b="13003"/>
          <a:stretch/>
        </p:blipFill>
        <p:spPr>
          <a:xfrm>
            <a:off x="2065631" y="1511692"/>
            <a:ext cx="5012737" cy="2531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63E4065-8A2A-C875-FCC0-AB65D0AEEEC1}"/>
              </a:ext>
            </a:extLst>
          </p:cNvPr>
          <p:cNvSpPr/>
          <p:nvPr/>
        </p:nvSpPr>
        <p:spPr>
          <a:xfrm>
            <a:off x="117566" y="6396335"/>
            <a:ext cx="6466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https://www.youtube.com/watch?v=nIBu1EFYmBU</a:t>
            </a:r>
            <a:endParaRPr lang="en-US" sz="1200" dirty="0">
              <a:solidFill>
                <a:schemeClr val="accent2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13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7CCC-EE88-458D-F6BB-7D8A76C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Digital Research Alliance of Canada (Compute Canada)</a:t>
            </a:r>
            <a:endParaRPr lang="en-CA" sz="3600" dirty="0"/>
          </a:p>
        </p:txBody>
      </p:sp>
      <p:pic>
        <p:nvPicPr>
          <p:cNvPr id="1026" name="Picture 2" descr="Please sign in | CCDB">
            <a:extLst>
              <a:ext uri="{FF2B5EF4-FFF2-40B4-BE49-F238E27FC236}">
                <a16:creationId xmlns:a16="http://schemas.microsoft.com/office/drawing/2014/main" id="{69C1859C-1FF4-0941-7BA0-B9139DBACB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7" y="2094439"/>
            <a:ext cx="7886700" cy="100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Build at Compute Canada - EasyBuild tutorial">
            <a:extLst>
              <a:ext uri="{FF2B5EF4-FFF2-40B4-BE49-F238E27FC236}">
                <a16:creationId xmlns:a16="http://schemas.microsoft.com/office/drawing/2014/main" id="{D5626C3F-D0BD-7784-C28B-92C8B624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3861837"/>
            <a:ext cx="33432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7CB9A70-BC90-0049-0EE8-346D0EDDC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08" y="3244694"/>
            <a:ext cx="4164142" cy="312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148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B727-024B-F38C-4706-865CC95B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7694"/>
            <a:ext cx="7886700" cy="1325563"/>
          </a:xfrm>
        </p:spPr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6C448-8733-758D-CB83-90C432585E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268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155D-B889-198F-76FC-B15B0392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B05E069-EBB1-E7F9-70A7-24FD6D871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679192"/>
          <a:ext cx="7747254" cy="267919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227142">
                  <a:extLst>
                    <a:ext uri="{9D8B030D-6E8A-4147-A177-3AD203B41FA5}">
                      <a16:colId xmlns:a16="http://schemas.microsoft.com/office/drawing/2014/main" val="708460282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1807522303"/>
                    </a:ext>
                  </a:extLst>
                </a:gridCol>
                <a:gridCol w="2690840">
                  <a:extLst>
                    <a:ext uri="{9D8B030D-6E8A-4147-A177-3AD203B41FA5}">
                      <a16:colId xmlns:a16="http://schemas.microsoft.com/office/drawing/2014/main" val="2481686866"/>
                    </a:ext>
                  </a:extLst>
                </a:gridCol>
                <a:gridCol w="2040307">
                  <a:extLst>
                    <a:ext uri="{9D8B030D-6E8A-4147-A177-3AD203B41FA5}">
                      <a16:colId xmlns:a16="http://schemas.microsoft.com/office/drawing/2014/main" val="4020696640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Feature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Scratch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Nearline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Projects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5186911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Purpose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Temporary, high-performance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Long-term, infrequently accessed data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Persistent, project-related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83506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Performance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Low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6571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Capacity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531406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Backup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No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7613960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Purge Policy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Regular purges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Data retained long-term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Retained throughout project duration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6268466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 dirty="0">
                          <a:effectLst/>
                        </a:rPr>
                        <a:t>Accessibility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Shared among project members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983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0666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549E-0779-4087-CE09-E00548F0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9908-3B37-BEB1-7915-9DF940FC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50007"/>
            <a:ext cx="7886700" cy="3826955"/>
          </a:xfrm>
        </p:spPr>
        <p:txBody>
          <a:bodyPr/>
          <a:lstStyle/>
          <a:p>
            <a:r>
              <a:rPr lang="en-US" dirty="0"/>
              <a:t>Overview of some important terms related to the cluster:</a:t>
            </a:r>
            <a:br>
              <a:rPr lang="en-US" dirty="0"/>
            </a:br>
            <a:endParaRPr lang="en-US" dirty="0"/>
          </a:p>
          <a:p>
            <a:pPr lvl="1"/>
            <a:r>
              <a:rPr lang="en-CA" dirty="0">
                <a:solidFill>
                  <a:srgbClr val="7030A0"/>
                </a:solidFill>
              </a:rPr>
              <a:t>Compute Nodes </a:t>
            </a:r>
            <a:r>
              <a:rPr lang="en-CA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7030A0"/>
                </a:solidFill>
                <a:sym typeface="Wingdings" panose="05000000000000000000" pitchFamily="2" charset="2"/>
              </a:rPr>
              <a:t>one node = one computer </a:t>
            </a:r>
          </a:p>
          <a:p>
            <a:pPr lvl="1"/>
            <a:r>
              <a:rPr lang="en-CA" dirty="0">
                <a:solidFill>
                  <a:srgbClr val="11A89F"/>
                </a:solidFill>
                <a:sym typeface="Wingdings" panose="05000000000000000000" pitchFamily="2" charset="2"/>
              </a:rPr>
              <a:t>Job Scheduling System  </a:t>
            </a:r>
            <a:r>
              <a:rPr lang="en-CA" b="1" dirty="0">
                <a:solidFill>
                  <a:srgbClr val="11A89F"/>
                </a:solidFill>
                <a:sym typeface="Wingdings" panose="05000000000000000000" pitchFamily="2" charset="2"/>
              </a:rPr>
              <a:t>SLURM</a:t>
            </a:r>
          </a:p>
          <a:p>
            <a:pPr lvl="1"/>
            <a:r>
              <a:rPr lang="en-CA" dirty="0">
                <a:solidFill>
                  <a:srgbClr val="3394BA"/>
                </a:solidFill>
              </a:rPr>
              <a:t>SLURM job priority </a:t>
            </a:r>
            <a:r>
              <a:rPr lang="en-CA" dirty="0">
                <a:solidFill>
                  <a:srgbClr val="3394BA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3394BA"/>
                </a:solidFill>
                <a:sym typeface="Wingdings" panose="05000000000000000000" pitchFamily="2" charset="2"/>
              </a:rPr>
              <a:t>Fairshare</a:t>
            </a:r>
            <a:endParaRPr lang="en-CA" b="1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0085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 to a cluster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2301510" y="1690689"/>
            <a:ext cx="4296049" cy="5030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ssh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user@cluster.computecanada.ca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9F0229F-DDCE-B749-B93B-4ECC612A8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585"/>
          <a:stretch/>
        </p:blipFill>
        <p:spPr>
          <a:xfrm>
            <a:off x="839288" y="2688224"/>
            <a:ext cx="7220495" cy="27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10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542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Requesting a computing allocation to execute your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FF710-990C-BCC8-45E9-A3DDFFB7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492"/>
            <a:ext cx="9144000" cy="28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738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job script that internally behaves like a for loop and submits individual jobs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A6CE4-A5C3-452D-38D7-FCB8F8191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186"/>
            <a:ext cx="9144000" cy="3126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0B9E8-FC39-61FB-266F-197B096D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1970"/>
            <a:ext cx="9144000" cy="3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6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 - Bonus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486259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You can use the </a:t>
            </a:r>
            <a:r>
              <a:rPr lang="en-US" b="1" dirty="0" err="1">
                <a:solidFill>
                  <a:srgbClr val="0070C0"/>
                </a:solidFill>
              </a:rPr>
              <a:t>sbatch</a:t>
            </a:r>
            <a:r>
              <a:rPr lang="en-US" b="1" dirty="0">
                <a:solidFill>
                  <a:srgbClr val="0070C0"/>
                </a:solidFill>
              </a:rPr>
              <a:t> command with flags without adding parameter directives in a job script.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17EE3-9768-A581-8BDB-A632AA2D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0938"/>
            <a:ext cx="9144000" cy="887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B049D8-D712-D0A3-FFE0-B02B6E6E9DBF}"/>
              </a:ext>
            </a:extLst>
          </p:cNvPr>
          <p:cNvSpPr txBox="1"/>
          <p:nvPr/>
        </p:nvSpPr>
        <p:spPr>
          <a:xfrm>
            <a:off x="628650" y="3972340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Then run the command in the terminal as follows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F4CFE8-ABA6-778F-7053-84B45BBE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5590"/>
            <a:ext cx="9144000" cy="3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649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submission/monitoring &amp; Useful commands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628638" y="2477330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squeue -u ${USER}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FB048D-C7C5-804B-8B1B-EBAF9D4EED2F}"/>
              </a:ext>
            </a:extLst>
          </p:cNvPr>
          <p:cNvSpPr/>
          <p:nvPr/>
        </p:nvSpPr>
        <p:spPr>
          <a:xfrm>
            <a:off x="628637" y="1901233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sbatch</a:t>
            </a:r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 job_script.slurm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E54F32-6A58-4043-87A1-E12A82F4E9E0}"/>
              </a:ext>
            </a:extLst>
          </p:cNvPr>
          <p:cNvSpPr/>
          <p:nvPr/>
        </p:nvSpPr>
        <p:spPr>
          <a:xfrm>
            <a:off x="628643" y="3618569"/>
            <a:ext cx="3055092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[PID]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DC6CEF-E9BE-D041-BFBE-AC8D8F9DADE6}"/>
              </a:ext>
            </a:extLst>
          </p:cNvPr>
          <p:cNvSpPr/>
          <p:nvPr/>
        </p:nvSpPr>
        <p:spPr>
          <a:xfrm>
            <a:off x="628639" y="4194338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-u ${USER}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400347-76F0-A84B-9755-8769CC613467}"/>
              </a:ext>
            </a:extLst>
          </p:cNvPr>
          <p:cNvSpPr/>
          <p:nvPr/>
        </p:nvSpPr>
        <p:spPr>
          <a:xfrm>
            <a:off x="3801291" y="1901233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Submit a job using a job script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7E4D4D-DCBE-E543-9504-DEADBAF21788}"/>
              </a:ext>
            </a:extLst>
          </p:cNvPr>
          <p:cNvSpPr/>
          <p:nvPr/>
        </p:nvSpPr>
        <p:spPr>
          <a:xfrm>
            <a:off x="3801292" y="2495067"/>
            <a:ext cx="4859382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List all the processes of $USER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98A6CC0-5648-D54A-9EE8-17AE0EF6F7D0}"/>
              </a:ext>
            </a:extLst>
          </p:cNvPr>
          <p:cNvSpPr/>
          <p:nvPr/>
        </p:nvSpPr>
        <p:spPr>
          <a:xfrm>
            <a:off x="3801291" y="3618568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 process using its process ID (PID)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60FA89-928A-2344-AAAD-F3E0FAF09546}"/>
              </a:ext>
            </a:extLst>
          </p:cNvPr>
          <p:cNvSpPr/>
          <p:nvPr/>
        </p:nvSpPr>
        <p:spPr>
          <a:xfrm>
            <a:off x="3801291" y="419933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all processes that belong to $USER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04B1E934-7544-9216-DCBD-F6CC54C198E5}"/>
              </a:ext>
            </a:extLst>
          </p:cNvPr>
          <p:cNvSpPr/>
          <p:nvPr/>
        </p:nvSpPr>
        <p:spPr>
          <a:xfrm>
            <a:off x="625591" y="4794794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–s </a:t>
            </a: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231C4758-DE76-1CFB-4266-6E95EC215AEE}"/>
              </a:ext>
            </a:extLst>
          </p:cNvPr>
          <p:cNvSpPr/>
          <p:nvPr/>
        </p:nvSpPr>
        <p:spPr>
          <a:xfrm>
            <a:off x="3798243" y="4799795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your home directory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91262C54-0BCC-DBA2-70EE-C6994FE9B608}"/>
              </a:ext>
            </a:extLst>
          </p:cNvPr>
          <p:cNvSpPr/>
          <p:nvPr/>
        </p:nvSpPr>
        <p:spPr>
          <a:xfrm>
            <a:off x="640831" y="5395250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--</a:t>
            </a:r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per_user</a:t>
            </a:r>
            <a:endParaRPr lang="en-US" sz="14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2D10C2BA-E2CF-BAC4-AC30-96F9239E39EF}"/>
              </a:ext>
            </a:extLst>
          </p:cNvPr>
          <p:cNvSpPr/>
          <p:nvPr/>
        </p:nvSpPr>
        <p:spPr>
          <a:xfrm>
            <a:off x="3813483" y="5400251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all users’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B2E09988-2C46-1482-F417-359D87C4F2F5}"/>
              </a:ext>
            </a:extLst>
          </p:cNvPr>
          <p:cNvSpPr/>
          <p:nvPr/>
        </p:nvSpPr>
        <p:spPr>
          <a:xfrm>
            <a:off x="634733" y="3050329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sq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CB6ADC9A-603C-328C-E018-E0C0223A0C3E}"/>
              </a:ext>
            </a:extLst>
          </p:cNvPr>
          <p:cNvSpPr/>
          <p:nvPr/>
        </p:nvSpPr>
        <p:spPr>
          <a:xfrm>
            <a:off x="3807387" y="305032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Same as above but shorter</a:t>
            </a:r>
          </a:p>
        </p:txBody>
      </p:sp>
    </p:spTree>
    <p:extLst>
      <p:ext uri="{BB962C8B-B14F-4D97-AF65-F5344CB8AC3E}">
        <p14:creationId xmlns:p14="http://schemas.microsoft.com/office/powerpoint/2010/main" val="22692837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505-9A96-DFF8-9E7E-4EE31692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CB02-4BC5-AC5E-F3F4-F7B85A1A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1" y="386660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 To summarize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27CD-44E4-0B8C-6F80-0467B03C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797191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UNIX is an operating system with two parts: the kernel and the shell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The shell (terminal) contains many built-in programs called commands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Commands allow the user to perform operations on files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latin typeface="Helvetica"/>
              <a:ea typeface="Calibri"/>
              <a:cs typeface="Helvetica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Automate file management operations 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Extract relevant information from files without opening them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Create pipelines that connect multiple tools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Determine which data structures are more appropriate for use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2597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8FEB-B9FE-4D0B-EAD8-320864A7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FF5B-3EF5-C2F2-FA72-FF975394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18B8C-3CE8-EC85-0E35-761C6FE72D75}"/>
              </a:ext>
            </a:extLst>
          </p:cNvPr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C4177-7A6A-3228-D13E-8D8D491E3B66}"/>
              </a:ext>
            </a:extLst>
          </p:cNvPr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3F4E-A6C7-623C-000A-AFE4DC35F391}"/>
              </a:ext>
            </a:extLst>
          </p:cNvPr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E9E89A-9BA6-3AAB-3BAA-6D568C7FCBDC}"/>
              </a:ext>
            </a:extLst>
          </p:cNvPr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BD4B01-D225-ABBC-FC06-94740B7C1C09}"/>
              </a:ext>
            </a:extLst>
          </p:cNvPr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23CB21-918C-672F-2060-95BFC7AAA80D}"/>
              </a:ext>
            </a:extLst>
          </p:cNvPr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D801F22-EBBA-51DF-6085-457F4337F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>
            <a:extLst>
              <a:ext uri="{FF2B5EF4-FFF2-40B4-BE49-F238E27FC236}">
                <a16:creationId xmlns:a16="http://schemas.microsoft.com/office/drawing/2014/main" id="{AE67B4F9-38F1-CC00-59E3-3B1460639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9387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81" y="1337380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dirty="0"/>
              <a:t>Datasets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26AD8-EC48-934D-AAD5-CDCBD7BDA8AE}"/>
              </a:ext>
            </a:extLst>
          </p:cNvPr>
          <p:cNvSpPr txBox="1"/>
          <p:nvPr/>
        </p:nvSpPr>
        <p:spPr>
          <a:xfrm>
            <a:off x="518481" y="2828835"/>
            <a:ext cx="6531428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Hands on 1 – Cars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r>
              <a:rPr lang="en-US" dirty="0">
                <a:solidFill>
                  <a:srgbClr val="3394BA"/>
                </a:solidFill>
              </a:rPr>
              <a:t> </a:t>
            </a:r>
          </a:p>
          <a:p>
            <a:r>
              <a:rPr lang="en-US" dirty="0"/>
              <a:t>Hands on 2 – Happiness surveys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r>
              <a:rPr lang="en-US" b="1" dirty="0"/>
              <a:t>Resources </a:t>
            </a:r>
          </a:p>
          <a:p>
            <a:r>
              <a:rPr lang="en-US" dirty="0">
                <a:solidFill>
                  <a:srgbClr val="3394BA"/>
                </a:solidFill>
                <a:hlinkClick r:id="rId4"/>
              </a:rPr>
              <a:t>UNIX cheatsheet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786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4812</Words>
  <Application>Microsoft Office PowerPoint</Application>
  <PresentationFormat>On-screen Show (4:3)</PresentationFormat>
  <Paragraphs>810</Paragraphs>
  <Slides>78</Slides>
  <Notes>32</Notes>
  <HiddenSlides>10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Bangla Sangam MN</vt:lpstr>
      <vt:lpstr>Helvetica Light</vt:lpstr>
      <vt:lpstr>McgillSans-Regular</vt:lpstr>
      <vt:lpstr>Menlo</vt:lpstr>
      <vt:lpstr>Aptos</vt:lpstr>
      <vt:lpstr>Aptos Narrow</vt:lpstr>
      <vt:lpstr>Arial</vt:lpstr>
      <vt:lpstr>Calibri</vt:lpstr>
      <vt:lpstr>Calibri Light</vt:lpstr>
      <vt:lpstr>Consolas</vt:lpstr>
      <vt:lpstr>Courier New</vt:lpstr>
      <vt:lpstr>Helvetica</vt:lpstr>
      <vt:lpstr>Open Sans Light</vt:lpstr>
      <vt:lpstr>Wingdings</vt:lpstr>
      <vt:lpstr>Thème Office</vt:lpstr>
      <vt:lpstr>Intro to Unix</vt:lpstr>
      <vt:lpstr>PowerPoint Presentation</vt:lpstr>
      <vt:lpstr>PowerPoint Presentation</vt:lpstr>
      <vt:lpstr>Outline</vt:lpstr>
      <vt:lpstr>Module 1</vt:lpstr>
      <vt:lpstr>UNIX Operating system</vt:lpstr>
      <vt:lpstr>Parts</vt:lpstr>
      <vt:lpstr>Files</vt:lpstr>
      <vt:lpstr>Processes</vt:lpstr>
      <vt:lpstr>PowerPoint Presentation</vt:lpstr>
      <vt:lpstr>File system structure</vt:lpstr>
      <vt:lpstr>File system structure</vt:lpstr>
      <vt:lpstr>The terminal</vt:lpstr>
      <vt:lpstr>Keyboard shortcuts</vt:lpstr>
      <vt:lpstr>Unix commands</vt:lpstr>
      <vt:lpstr>Basic commands</vt:lpstr>
      <vt:lpstr>Basic commands</vt:lpstr>
      <vt:lpstr>Special characters</vt:lpstr>
      <vt:lpstr>File permissions</vt:lpstr>
      <vt:lpstr>File management commands</vt:lpstr>
      <vt:lpstr>File management commands</vt:lpstr>
      <vt:lpstr>How to edit files in the terminal</vt:lpstr>
      <vt:lpstr>PowerPoint Presentation</vt:lpstr>
      <vt:lpstr>File management commands</vt:lpstr>
      <vt:lpstr>File management commands</vt:lpstr>
      <vt:lpstr>Text processing commands</vt:lpstr>
      <vt:lpstr>Bonus skill</vt:lpstr>
      <vt:lpstr>Create your own commands</vt:lpstr>
      <vt:lpstr>Hands on 1</vt:lpstr>
      <vt:lpstr>PowerPoint Presentation</vt:lpstr>
      <vt:lpstr>PowerPoint Presentation</vt:lpstr>
      <vt:lpstr>Module 2</vt:lpstr>
      <vt:lpstr>Pipes</vt:lpstr>
      <vt:lpstr>Redirect output</vt:lpstr>
      <vt:lpstr>Variables</vt:lpstr>
      <vt:lpstr>Global variable</vt:lpstr>
      <vt:lpstr>Shell variables</vt:lpstr>
      <vt:lpstr>Environment variables</vt:lpstr>
      <vt:lpstr>Variable expansions</vt:lpstr>
      <vt:lpstr>Variable expansions</vt:lpstr>
      <vt:lpstr>Variable expansions</vt:lpstr>
      <vt:lpstr>Groupings</vt:lpstr>
      <vt:lpstr>Example</vt:lpstr>
      <vt:lpstr>Pattern matching</vt:lpstr>
      <vt:lpstr>Regular expressions</vt:lpstr>
      <vt:lpstr>Regular expressions</vt:lpstr>
      <vt:lpstr>Example</vt:lpstr>
      <vt:lpstr>Bonus skills</vt:lpstr>
      <vt:lpstr>awk</vt:lpstr>
      <vt:lpstr>Example</vt:lpstr>
      <vt:lpstr>sed</vt:lpstr>
      <vt:lpstr>Examples</vt:lpstr>
      <vt:lpstr>Hands on 2.1</vt:lpstr>
      <vt:lpstr>PowerPoint Presentation</vt:lpstr>
      <vt:lpstr>Hands on 2.2</vt:lpstr>
      <vt:lpstr>PowerPoint Presentation</vt:lpstr>
      <vt:lpstr>What will happen?</vt:lpstr>
      <vt:lpstr>Module 3</vt:lpstr>
      <vt:lpstr>For loop</vt:lpstr>
      <vt:lpstr>Conditional statements</vt:lpstr>
      <vt:lpstr>Operators for variables</vt:lpstr>
      <vt:lpstr>Operators for arithmetic operations</vt:lpstr>
      <vt:lpstr>Operators for files</vt:lpstr>
      <vt:lpstr>Hands on 3.1  and solution</vt:lpstr>
      <vt:lpstr>PowerPoint Presentation</vt:lpstr>
      <vt:lpstr>High performance computing</vt:lpstr>
      <vt:lpstr>Digital Research Alliance of Canada (Compute Canada)</vt:lpstr>
      <vt:lpstr>Digital Research Alliance of Canada (Compute Canada)</vt:lpstr>
      <vt:lpstr>Digital Research Alliance of Canada (Compute Canada)</vt:lpstr>
      <vt:lpstr>Digital Research Alliance of Canada (Compute Canada)</vt:lpstr>
      <vt:lpstr>Connect to a cluster</vt:lpstr>
      <vt:lpstr>Jobs</vt:lpstr>
      <vt:lpstr>Job arrays</vt:lpstr>
      <vt:lpstr>Jobs - Bonus</vt:lpstr>
      <vt:lpstr>Job submission/monitoring &amp; Useful commands</vt:lpstr>
      <vt:lpstr> To summarize</vt:lpstr>
      <vt:lpstr>Thank you for attending!</vt:lpstr>
      <vt:lpstr>Datasets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Shucheng Cao</cp:lastModifiedBy>
  <cp:revision>148</cp:revision>
  <dcterms:created xsi:type="dcterms:W3CDTF">2019-07-29T14:54:16Z</dcterms:created>
  <dcterms:modified xsi:type="dcterms:W3CDTF">2026-02-05T05:36:52Z</dcterms:modified>
</cp:coreProperties>
</file>